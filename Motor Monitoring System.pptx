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BM Plex Mono Bold" charset="1" panose="020B0809050203000203"/>
      <p:regular r:id="rId22"/>
    </p:embeddedFont>
    <p:embeddedFont>
      <p:font typeface="Montserrat Bold" charset="1" panose="00000800000000000000"/>
      <p:regular r:id="rId23"/>
    </p:embeddedFont>
    <p:embeddedFont>
      <p:font typeface="Montserrat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827">
                <a:alpha val="4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90600" y="1962150"/>
            <a:ext cx="1123950" cy="66675"/>
            <a:chOff x="0" y="0"/>
            <a:chExt cx="1498600" cy="8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98600" cy="88900"/>
            </a:xfrm>
            <a:custGeom>
              <a:avLst/>
              <a:gdLst/>
              <a:ahLst/>
              <a:cxnLst/>
              <a:rect r="r" b="b" t="t" l="l"/>
              <a:pathLst>
                <a:path h="88900" w="1498600">
                  <a:moveTo>
                    <a:pt x="0" y="0"/>
                  </a:moveTo>
                  <a:lnTo>
                    <a:pt x="1498600" y="0"/>
                  </a:lnTo>
                  <a:lnTo>
                    <a:pt x="14986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11C5D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986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602355" y="385927"/>
            <a:ext cx="2127556" cy="2127556"/>
          </a:xfrm>
          <a:custGeom>
            <a:avLst/>
            <a:gdLst/>
            <a:ahLst/>
            <a:cxnLst/>
            <a:rect r="r" b="b" t="t" l="l"/>
            <a:pathLst>
              <a:path h="2127556" w="2127556">
                <a:moveTo>
                  <a:pt x="0" y="0"/>
                </a:moveTo>
                <a:lnTo>
                  <a:pt x="2127556" y="0"/>
                </a:lnTo>
                <a:lnTo>
                  <a:pt x="2127556" y="2127556"/>
                </a:lnTo>
                <a:lnTo>
                  <a:pt x="0" y="21275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90600" y="1143000"/>
            <a:ext cx="7810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79" b="true">
                <a:solidFill>
                  <a:srgbClr val="11C5D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GRADUATION PROJECT  /  EMBEDDED SYSTEMS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" y="2381250"/>
            <a:ext cx="11239500" cy="2639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66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Embedded Wireless</a:t>
            </a:r>
          </a:p>
          <a:p>
            <a:pPr algn="l">
              <a:lnSpc>
                <a:spcPts val="6864"/>
              </a:lnSpc>
            </a:pPr>
            <a:r>
              <a:rPr lang="en-US" sz="66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Motor Monitoring</a:t>
            </a:r>
          </a:p>
          <a:p>
            <a:pPr algn="l">
              <a:lnSpc>
                <a:spcPts val="6864"/>
              </a:lnSpc>
            </a:pPr>
            <a:r>
              <a:rPr lang="en-US" sz="66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&amp; Control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0600" y="7029450"/>
            <a:ext cx="9810750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Real-Time Closed-Loop Control, Fault Detection &amp; Wireless Telemetry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0600" y="9705975"/>
            <a:ext cx="533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 b="true">
                <a:solidFill>
                  <a:srgbClr val="11C5D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EMBEDDED WIRELESS MOTOR SYSTEM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73500" y="970597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35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523875"/>
            <a:ext cx="1524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42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 / CONCEPT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962025"/>
            <a:ext cx="14287500" cy="54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4050" b="true">
                <a:solidFill>
                  <a:srgbClr val="1027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Two Controllers. One Deterministic System.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1638300"/>
            <a:ext cx="16306800" cy="28575"/>
            <a:chOff x="0" y="0"/>
            <a:chExt cx="21742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42400" cy="38100"/>
            </a:xfrm>
            <a:custGeom>
              <a:avLst/>
              <a:gdLst/>
              <a:ahLst/>
              <a:cxnLst/>
              <a:rect r="r" b="b" t="t" l="l"/>
              <a:pathLst>
                <a:path h="381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7424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525000" y="2171700"/>
            <a:ext cx="7772400" cy="6191250"/>
          </a:xfrm>
          <a:custGeom>
            <a:avLst/>
            <a:gdLst/>
            <a:ahLst/>
            <a:cxnLst/>
            <a:rect r="r" b="b" t="t" l="l"/>
            <a:pathLst>
              <a:path h="6191250" w="7772400">
                <a:moveTo>
                  <a:pt x="0" y="0"/>
                </a:moveTo>
                <a:lnTo>
                  <a:pt x="7772400" y="0"/>
                </a:lnTo>
                <a:lnTo>
                  <a:pt x="7772400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t="0" r="-2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990600" y="2552700"/>
            <a:ext cx="76200" cy="2305050"/>
            <a:chOff x="0" y="0"/>
            <a:chExt cx="101600" cy="3073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" cy="3073400"/>
            </a:xfrm>
            <a:custGeom>
              <a:avLst/>
              <a:gdLst/>
              <a:ahLst/>
              <a:cxnLst/>
              <a:rect r="r" b="b" t="t" l="l"/>
              <a:pathLst>
                <a:path h="30734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3073400"/>
                  </a:lnTo>
                  <a:lnTo>
                    <a:pt x="0" y="3073400"/>
                  </a:lnTo>
                  <a:close/>
                </a:path>
              </a:pathLst>
            </a:custGeom>
            <a:solidFill>
              <a:srgbClr val="11C5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" cy="311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0600" y="4857750"/>
            <a:ext cx="76200" cy="2305050"/>
            <a:chOff x="0" y="0"/>
            <a:chExt cx="101600" cy="3073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600" cy="3073400"/>
            </a:xfrm>
            <a:custGeom>
              <a:avLst/>
              <a:gdLst/>
              <a:ahLst/>
              <a:cxnLst/>
              <a:rect r="r" b="b" t="t" l="l"/>
              <a:pathLst>
                <a:path h="30734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3073400"/>
                  </a:lnTo>
                  <a:lnTo>
                    <a:pt x="0" y="3073400"/>
                  </a:ln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1600" cy="311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90600" y="2609850"/>
            <a:ext cx="3524250" cy="48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600" b="true">
                <a:solidFill>
                  <a:srgbClr val="1027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ATmega32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0600" y="3228975"/>
            <a:ext cx="6572250" cy="67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02735"/>
                </a:solidFill>
                <a:latin typeface="Montserrat"/>
                <a:ea typeface="Montserrat"/>
                <a:cs typeface="Montserrat"/>
                <a:sym typeface="Montserrat"/>
              </a:rPr>
              <a:t>Real-time safety, PWM motor control, encoder feedback and sensor acquisition.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0600" y="4914900"/>
            <a:ext cx="3524250" cy="48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600" b="true">
                <a:solidFill>
                  <a:srgbClr val="1027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ESP32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0600" y="5534025"/>
            <a:ext cx="6572250" cy="67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02735"/>
                </a:solidFill>
                <a:latin typeface="Montserrat"/>
                <a:ea typeface="Montserrat"/>
                <a:cs typeface="Montserrat"/>
                <a:sym typeface="Montserrat"/>
              </a:rPr>
              <a:t>Wi-Fi telemetry gateway and live web monitoring — without disturbing the control loop.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0600" y="7562850"/>
            <a:ext cx="7239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172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LOW-COST  •  RELIABLE  •  AUTOMATED SAFETY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0600" y="9705975"/>
            <a:ext cx="533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EMBEDDED WIRELESS MOTOR SYSTEM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73500" y="970597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35">
                <a:solidFill>
                  <a:srgbClr val="64798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533400"/>
            <a:ext cx="1524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97" b="true">
                <a:solidFill>
                  <a:srgbClr val="11C5D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 /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962025"/>
            <a:ext cx="14287500" cy="54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 &amp; Data Flow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1638300"/>
            <a:ext cx="16306800" cy="28575"/>
            <a:chOff x="0" y="0"/>
            <a:chExt cx="21742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42400" cy="38100"/>
            </a:xfrm>
            <a:custGeom>
              <a:avLst/>
              <a:gdLst/>
              <a:ahLst/>
              <a:cxnLst/>
              <a:rect r="r" b="b" t="t" l="l"/>
              <a:pathLst>
                <a:path h="381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1C5D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7424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4038600" y="4524375"/>
            <a:ext cx="1200150" cy="0"/>
          </a:xfrm>
          <a:prstGeom prst="line">
            <a:avLst/>
          </a:prstGeom>
          <a:ln cap="rnd" w="47625">
            <a:solidFill>
              <a:srgbClr val="11C5D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8286750" y="4524375"/>
            <a:ext cx="904875" cy="0"/>
          </a:xfrm>
          <a:prstGeom prst="line">
            <a:avLst/>
          </a:prstGeom>
          <a:ln cap="rnd" w="47625">
            <a:solidFill>
              <a:srgbClr val="11C5D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>
            <a:off x="11668125" y="4524375"/>
            <a:ext cx="904875" cy="0"/>
          </a:xfrm>
          <a:prstGeom prst="line">
            <a:avLst/>
          </a:prstGeom>
          <a:ln cap="rnd" w="47625">
            <a:solidFill>
              <a:srgbClr val="11C5D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>
            <a:off x="15049500" y="4524375"/>
            <a:ext cx="666750" cy="0"/>
          </a:xfrm>
          <a:prstGeom prst="line">
            <a:avLst/>
          </a:prstGeom>
          <a:ln cap="rnd" w="47625">
            <a:solidFill>
              <a:srgbClr val="11C5D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>
            <a:off x="6762750" y="5334000"/>
            <a:ext cx="0" cy="1428750"/>
          </a:xfrm>
          <a:prstGeom prst="line">
            <a:avLst/>
          </a:prstGeom>
          <a:ln cap="rnd" w="47625">
            <a:solidFill>
              <a:srgbClr val="FFB547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 flipH="true">
            <a:off x="4143375" y="7429500"/>
            <a:ext cx="1095375" cy="0"/>
          </a:xfrm>
          <a:prstGeom prst="line">
            <a:avLst/>
          </a:prstGeom>
          <a:ln cap="rnd" w="47625">
            <a:solidFill>
              <a:srgbClr val="FFB547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5334000" y="3810000"/>
            <a:ext cx="2857500" cy="1428750"/>
            <a:chOff x="0" y="0"/>
            <a:chExt cx="3810000" cy="190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845733"/>
                  </a:lnTo>
                  <a:cubicBezTo>
                    <a:pt x="3810000" y="1878465"/>
                    <a:pt x="3783466" y="1905000"/>
                    <a:pt x="3750733" y="1905000"/>
                  </a:cubicBezTo>
                  <a:lnTo>
                    <a:pt x="59267" y="1905000"/>
                  </a:lnTo>
                  <a:cubicBezTo>
                    <a:pt x="26535" y="1905000"/>
                    <a:pt x="0" y="1878465"/>
                    <a:pt x="0" y="1845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1C5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3810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ATmega32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REAL-TIME CORE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86875" y="3810000"/>
            <a:ext cx="2286000" cy="1428750"/>
            <a:chOff x="0" y="0"/>
            <a:chExt cx="3048000" cy="1905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48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048000">
                  <a:moveTo>
                    <a:pt x="74083" y="0"/>
                  </a:moveTo>
                  <a:lnTo>
                    <a:pt x="2973917" y="0"/>
                  </a:lnTo>
                  <a:cubicBezTo>
                    <a:pt x="2993565" y="0"/>
                    <a:pt x="3012408" y="7805"/>
                    <a:pt x="3026302" y="21699"/>
                  </a:cubicBezTo>
                  <a:cubicBezTo>
                    <a:pt x="3040195" y="35592"/>
                    <a:pt x="3048000" y="54435"/>
                    <a:pt x="3048000" y="74083"/>
                  </a:cubicBezTo>
                  <a:lnTo>
                    <a:pt x="3048000" y="1830917"/>
                  </a:lnTo>
                  <a:cubicBezTo>
                    <a:pt x="3048000" y="1850565"/>
                    <a:pt x="3040195" y="1869408"/>
                    <a:pt x="3026302" y="1883302"/>
                  </a:cubicBezTo>
                  <a:cubicBezTo>
                    <a:pt x="3012408" y="1897195"/>
                    <a:pt x="2993565" y="1905000"/>
                    <a:pt x="2973917" y="1905000"/>
                  </a:cubicBezTo>
                  <a:lnTo>
                    <a:pt x="74083" y="1905000"/>
                  </a:lnTo>
                  <a:cubicBezTo>
                    <a:pt x="54435" y="1905000"/>
                    <a:pt x="35592" y="1897195"/>
                    <a:pt x="21699" y="1883302"/>
                  </a:cubicBezTo>
                  <a:cubicBezTo>
                    <a:pt x="7805" y="1869408"/>
                    <a:pt x="0" y="1850565"/>
                    <a:pt x="0" y="1830917"/>
                  </a:cubicBezTo>
                  <a:lnTo>
                    <a:pt x="0" y="74083"/>
                  </a:lnTo>
                  <a:cubicBezTo>
                    <a:pt x="0" y="54435"/>
                    <a:pt x="7805" y="35592"/>
                    <a:pt x="21699" y="21699"/>
                  </a:cubicBezTo>
                  <a:cubicBezTo>
                    <a:pt x="35592" y="7805"/>
                    <a:pt x="54435" y="0"/>
                    <a:pt x="7408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3048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2-CH LEVEL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CONVERTER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668250" y="3810000"/>
            <a:ext cx="2286000" cy="1428750"/>
            <a:chOff x="0" y="0"/>
            <a:chExt cx="3048000" cy="1905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48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048000">
                  <a:moveTo>
                    <a:pt x="74083" y="0"/>
                  </a:moveTo>
                  <a:lnTo>
                    <a:pt x="2973917" y="0"/>
                  </a:lnTo>
                  <a:cubicBezTo>
                    <a:pt x="2993565" y="0"/>
                    <a:pt x="3012408" y="7805"/>
                    <a:pt x="3026302" y="21699"/>
                  </a:cubicBezTo>
                  <a:cubicBezTo>
                    <a:pt x="3040195" y="35592"/>
                    <a:pt x="3048000" y="54435"/>
                    <a:pt x="3048000" y="74083"/>
                  </a:cubicBezTo>
                  <a:lnTo>
                    <a:pt x="3048000" y="1830917"/>
                  </a:lnTo>
                  <a:cubicBezTo>
                    <a:pt x="3048000" y="1850565"/>
                    <a:pt x="3040195" y="1869408"/>
                    <a:pt x="3026302" y="1883302"/>
                  </a:cubicBezTo>
                  <a:cubicBezTo>
                    <a:pt x="3012408" y="1897195"/>
                    <a:pt x="2993565" y="1905000"/>
                    <a:pt x="2973917" y="1905000"/>
                  </a:cubicBezTo>
                  <a:lnTo>
                    <a:pt x="74083" y="1905000"/>
                  </a:lnTo>
                  <a:cubicBezTo>
                    <a:pt x="54435" y="1905000"/>
                    <a:pt x="35592" y="1897195"/>
                    <a:pt x="21699" y="1883302"/>
                  </a:cubicBezTo>
                  <a:cubicBezTo>
                    <a:pt x="7805" y="1869408"/>
                    <a:pt x="0" y="1850565"/>
                    <a:pt x="0" y="1830917"/>
                  </a:cubicBezTo>
                  <a:lnTo>
                    <a:pt x="0" y="74083"/>
                  </a:lnTo>
                  <a:cubicBezTo>
                    <a:pt x="0" y="54435"/>
                    <a:pt x="7805" y="35592"/>
                    <a:pt x="21699" y="21699"/>
                  </a:cubicBezTo>
                  <a:cubicBezTo>
                    <a:pt x="35592" y="7805"/>
                    <a:pt x="54435" y="0"/>
                    <a:pt x="74083" y="0"/>
                  </a:cubicBez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3048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ESP32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WI-FI GATEWAY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811500" y="3810000"/>
            <a:ext cx="1714500" cy="1428750"/>
            <a:chOff x="0" y="0"/>
            <a:chExt cx="2286000" cy="1905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8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286000">
                  <a:moveTo>
                    <a:pt x="98778" y="0"/>
                  </a:moveTo>
                  <a:lnTo>
                    <a:pt x="2187222" y="0"/>
                  </a:lnTo>
                  <a:cubicBezTo>
                    <a:pt x="2241776" y="0"/>
                    <a:pt x="2286000" y="44224"/>
                    <a:pt x="2286000" y="98778"/>
                  </a:cubicBezTo>
                  <a:lnTo>
                    <a:pt x="2286000" y="1806222"/>
                  </a:lnTo>
                  <a:cubicBezTo>
                    <a:pt x="2286000" y="1860776"/>
                    <a:pt x="2241776" y="1905000"/>
                    <a:pt x="2187222" y="1905000"/>
                  </a:cubicBezTo>
                  <a:lnTo>
                    <a:pt x="98778" y="1905000"/>
                  </a:lnTo>
                  <a:cubicBezTo>
                    <a:pt x="44224" y="1905000"/>
                    <a:pt x="0" y="1860776"/>
                    <a:pt x="0" y="1806222"/>
                  </a:cubicBezTo>
                  <a:lnTo>
                    <a:pt x="0" y="98778"/>
                  </a:lnTo>
                  <a:cubicBezTo>
                    <a:pt x="0" y="44224"/>
                    <a:pt x="44224" y="0"/>
                    <a:pt x="9877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2286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LAPTOP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0600" y="2781300"/>
            <a:ext cx="3048000" cy="2381250"/>
            <a:chOff x="0" y="0"/>
            <a:chExt cx="4064000" cy="3175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6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4064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3119438"/>
                  </a:lnTo>
                  <a:cubicBezTo>
                    <a:pt x="4064000" y="3150124"/>
                    <a:pt x="4039124" y="3175000"/>
                    <a:pt x="4008438" y="3175000"/>
                  </a:cubicBezTo>
                  <a:lnTo>
                    <a:pt x="55562" y="3175000"/>
                  </a:lnTo>
                  <a:cubicBezTo>
                    <a:pt x="24876" y="3175000"/>
                    <a:pt x="0" y="3150124"/>
                    <a:pt x="0" y="31194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0D2B3E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4064000" cy="315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ENCODER  •  IMU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NTC ×2  •  VOLTAGE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ULTRASONIC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334000" y="6858000"/>
            <a:ext cx="2857500" cy="1285875"/>
            <a:chOff x="0" y="0"/>
            <a:chExt cx="3810000" cy="1714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655233"/>
                  </a:lnTo>
                  <a:cubicBezTo>
                    <a:pt x="3810000" y="1687965"/>
                    <a:pt x="3783466" y="1714500"/>
                    <a:pt x="3750733" y="1714500"/>
                  </a:cubicBezTo>
                  <a:lnTo>
                    <a:pt x="59267" y="1714500"/>
                  </a:lnTo>
                  <a:cubicBezTo>
                    <a:pt x="26535" y="1714500"/>
                    <a:pt x="0" y="1687965"/>
                    <a:pt x="0" y="1655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B547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3810000" cy="169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L298N DRIVER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+ 12V GEAR MOTOR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66800" y="5534025"/>
            <a:ext cx="2952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50" b="true">
                <a:solidFill>
                  <a:srgbClr val="11C5D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ADC / I²C / INTERRUPTS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334000" y="6086475"/>
            <a:ext cx="285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50" b="true">
                <a:solidFill>
                  <a:srgbClr val="FFB54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PWM + DIRECTION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858250" y="3324225"/>
            <a:ext cx="3143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50" b="true">
                <a:solidFill>
                  <a:srgbClr val="11C5D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UART 5V ↔ 3.3V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0600" y="9705975"/>
            <a:ext cx="533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 b="true">
                <a:solidFill>
                  <a:srgbClr val="11C5D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EMBEDDED WIRELESS MOTOR SYSTEM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73500" y="970597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35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533400"/>
            <a:ext cx="1524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27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 / HARDWARE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962025"/>
            <a:ext cx="14287500" cy="54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4050" b="true">
                <a:solidFill>
                  <a:srgbClr val="1027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Processing &amp; Actuation Hardware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1638300"/>
            <a:ext cx="16306800" cy="28575"/>
            <a:chOff x="0" y="0"/>
            <a:chExt cx="21742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42400" cy="38100"/>
            </a:xfrm>
            <a:custGeom>
              <a:avLst/>
              <a:gdLst/>
              <a:ahLst/>
              <a:cxnLst/>
              <a:rect r="r" b="b" t="t" l="l"/>
              <a:pathLst>
                <a:path h="381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7424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86800" y="2362200"/>
            <a:ext cx="7219950" cy="802481"/>
            <a:chOff x="0" y="0"/>
            <a:chExt cx="9626600" cy="106997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76200"/>
              <a:ext cx="330200" cy="330200"/>
              <a:chOff x="0" y="0"/>
              <a:chExt cx="330200" cy="3302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30200" cy="330200"/>
              </a:xfrm>
              <a:custGeom>
                <a:avLst/>
                <a:gdLst/>
                <a:ahLst/>
                <a:cxnLst/>
                <a:rect r="r" b="b" t="t" l="l"/>
                <a:pathLst>
                  <a:path h="330200" w="330200">
                    <a:moveTo>
                      <a:pt x="0" y="0"/>
                    </a:moveTo>
                    <a:lnTo>
                      <a:pt x="330200" y="0"/>
                    </a:lnTo>
                    <a:lnTo>
                      <a:pt x="330200" y="330200"/>
                    </a:lnTo>
                    <a:lnTo>
                      <a:pt x="0" y="330200"/>
                    </a:lnTo>
                    <a:close/>
                  </a:path>
                </a:pathLst>
              </a:custGeom>
              <a:solidFill>
                <a:srgbClr val="11C5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3302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736600" y="38100"/>
              <a:ext cx="88900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ATmega32 Board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736600" y="669925"/>
              <a:ext cx="889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PWM • ADC • interrupts • timers • safety logic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686800" y="3867150"/>
            <a:ext cx="7219950" cy="802481"/>
            <a:chOff x="0" y="0"/>
            <a:chExt cx="9626600" cy="106997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76200"/>
              <a:ext cx="330200" cy="330200"/>
              <a:chOff x="0" y="0"/>
              <a:chExt cx="330200" cy="330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30200" cy="330200"/>
              </a:xfrm>
              <a:custGeom>
                <a:avLst/>
                <a:gdLst/>
                <a:ahLst/>
                <a:cxnLst/>
                <a:rect r="r" b="b" t="t" l="l"/>
                <a:pathLst>
                  <a:path h="330200" w="330200">
                    <a:moveTo>
                      <a:pt x="0" y="0"/>
                    </a:moveTo>
                    <a:lnTo>
                      <a:pt x="330200" y="0"/>
                    </a:lnTo>
                    <a:lnTo>
                      <a:pt x="330200" y="330200"/>
                    </a:lnTo>
                    <a:lnTo>
                      <a:pt x="0" y="330200"/>
                    </a:lnTo>
                    <a:close/>
                  </a:path>
                </a:pathLst>
              </a:custGeom>
              <a:solidFill>
                <a:srgbClr val="11C5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3302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736600" y="38100"/>
              <a:ext cx="88900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ESP32 Board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736600" y="669925"/>
              <a:ext cx="889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Serial telemetry • Wi-Fi web server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686800" y="5372100"/>
            <a:ext cx="7219950" cy="802481"/>
            <a:chOff x="0" y="0"/>
            <a:chExt cx="9626600" cy="1069975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76200"/>
              <a:ext cx="330200" cy="330200"/>
              <a:chOff x="0" y="0"/>
              <a:chExt cx="330200" cy="3302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30200" cy="330200"/>
              </a:xfrm>
              <a:custGeom>
                <a:avLst/>
                <a:gdLst/>
                <a:ahLst/>
                <a:cxnLst/>
                <a:rect r="r" b="b" t="t" l="l"/>
                <a:pathLst>
                  <a:path h="330200" w="330200">
                    <a:moveTo>
                      <a:pt x="0" y="0"/>
                    </a:moveTo>
                    <a:lnTo>
                      <a:pt x="330200" y="0"/>
                    </a:lnTo>
                    <a:lnTo>
                      <a:pt x="330200" y="330200"/>
                    </a:lnTo>
                    <a:lnTo>
                      <a:pt x="0" y="330200"/>
                    </a:lnTo>
                    <a:close/>
                  </a:path>
                </a:pathLst>
              </a:custGeom>
              <a:solidFill>
                <a:srgbClr val="16A6A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3302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736600" y="38100"/>
              <a:ext cx="88900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25GA370 Gear Motor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736600" y="669925"/>
              <a:ext cx="889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12V • 210 RPM • quadrature encoder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686800" y="6877050"/>
            <a:ext cx="7219950" cy="802481"/>
            <a:chOff x="0" y="0"/>
            <a:chExt cx="9626600" cy="1069975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76200"/>
              <a:ext cx="330200" cy="330200"/>
              <a:chOff x="0" y="0"/>
              <a:chExt cx="330200" cy="3302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30200" cy="330200"/>
              </a:xfrm>
              <a:custGeom>
                <a:avLst/>
                <a:gdLst/>
                <a:ahLst/>
                <a:cxnLst/>
                <a:rect r="r" b="b" t="t" l="l"/>
                <a:pathLst>
                  <a:path h="330200" w="330200">
                    <a:moveTo>
                      <a:pt x="0" y="0"/>
                    </a:moveTo>
                    <a:lnTo>
                      <a:pt x="330200" y="0"/>
                    </a:lnTo>
                    <a:lnTo>
                      <a:pt x="330200" y="330200"/>
                    </a:lnTo>
                    <a:lnTo>
                      <a:pt x="0" y="330200"/>
                    </a:lnTo>
                    <a:close/>
                  </a:path>
                </a:pathLst>
              </a:custGeom>
              <a:solidFill>
                <a:srgbClr val="16A6A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3302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736600" y="38100"/>
              <a:ext cx="88900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L298N Driver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736600" y="669925"/>
              <a:ext cx="889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Bi-directional H-bridge actuation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990600" y="2228850"/>
            <a:ext cx="7239000" cy="6191250"/>
          </a:xfrm>
          <a:custGeom>
            <a:avLst/>
            <a:gdLst/>
            <a:ahLst/>
            <a:cxnLst/>
            <a:rect r="r" b="b" t="t" l="l"/>
            <a:pathLst>
              <a:path h="6191250" w="7239000">
                <a:moveTo>
                  <a:pt x="0" y="0"/>
                </a:moveTo>
                <a:lnTo>
                  <a:pt x="7239000" y="0"/>
                </a:lnTo>
                <a:lnTo>
                  <a:pt x="7239000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" t="0" r="-15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2" id="32"/>
          <p:cNvSpPr txBox="true"/>
          <p:nvPr/>
        </p:nvSpPr>
        <p:spPr>
          <a:xfrm rot="0">
            <a:off x="990600" y="9705975"/>
            <a:ext cx="533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EMBEDDED WIRELESS MOTOR SYSTEM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573500" y="970597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35">
                <a:solidFill>
                  <a:srgbClr val="64798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523875"/>
            <a:ext cx="1524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42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 / SENSING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962025"/>
            <a:ext cx="14287500" cy="54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4050" b="true">
                <a:solidFill>
                  <a:srgbClr val="1027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Five Signals. One Health Picture.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1638300"/>
            <a:ext cx="16306800" cy="28575"/>
            <a:chOff x="0" y="0"/>
            <a:chExt cx="21742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42400" cy="38100"/>
            </a:xfrm>
            <a:custGeom>
              <a:avLst/>
              <a:gdLst/>
              <a:ahLst/>
              <a:cxnLst/>
              <a:rect r="r" b="b" t="t" l="l"/>
              <a:pathLst>
                <a:path h="381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7424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90600" y="2419350"/>
            <a:ext cx="2990850" cy="4953000"/>
            <a:chOff x="0" y="0"/>
            <a:chExt cx="3987800" cy="6604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3937000" cy="6604000"/>
              <a:chOff x="0" y="0"/>
              <a:chExt cx="3937000" cy="6604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37000" cy="6604000"/>
              </a:xfrm>
              <a:custGeom>
                <a:avLst/>
                <a:gdLst/>
                <a:ahLst/>
                <a:cxnLst/>
                <a:rect r="r" b="b" t="t" l="l"/>
                <a:pathLst>
                  <a:path h="6604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DFF4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3937000" cy="664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55600" y="1752600"/>
              <a:ext cx="914400" cy="63500"/>
              <a:chOff x="0" y="0"/>
              <a:chExt cx="914400" cy="635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14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16A6A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914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55600" y="631825"/>
              <a:ext cx="3632200" cy="5838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76"/>
                </a:lnSpc>
              </a:pPr>
              <a:r>
                <a:rPr lang="en-US" sz="3150" b="true">
                  <a:solidFill>
                    <a:srgbClr val="11C5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RPM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55600" y="2279650"/>
              <a:ext cx="3632200" cy="376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8"/>
                </a:lnSpc>
              </a:pPr>
              <a:r>
                <a:rPr lang="en-US" sz="1950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Quadrature Encoder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55600" y="3400425"/>
              <a:ext cx="36322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Closed-loop speed feedback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248150" y="2419350"/>
            <a:ext cx="2990850" cy="4953000"/>
            <a:chOff x="0" y="0"/>
            <a:chExt cx="3987800" cy="6604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3937000" cy="6604000"/>
              <a:chOff x="0" y="0"/>
              <a:chExt cx="3937000" cy="6604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937000" cy="6604000"/>
              </a:xfrm>
              <a:custGeom>
                <a:avLst/>
                <a:gdLst/>
                <a:ahLst/>
                <a:cxnLst/>
                <a:rect r="r" b="b" t="t" l="l"/>
                <a:pathLst>
                  <a:path h="6604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3937000" cy="664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355600" y="1752600"/>
              <a:ext cx="914400" cy="63500"/>
              <a:chOff x="0" y="0"/>
              <a:chExt cx="914400" cy="635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14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16A6A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914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55600" y="631825"/>
              <a:ext cx="3632200" cy="5838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76"/>
                </a:lnSpc>
              </a:pPr>
              <a:r>
                <a:rPr lang="en-US" sz="3150" b="true">
                  <a:solidFill>
                    <a:srgbClr val="11C5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6-DOF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55600" y="2298700"/>
              <a:ext cx="3632200" cy="40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62"/>
                </a:lnSpc>
              </a:pPr>
              <a:r>
                <a:rPr lang="en-US" sz="2175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MPU6050 IMU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55600" y="3400425"/>
              <a:ext cx="36322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Vibration &amp; angular motion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505700" y="2419350"/>
            <a:ext cx="2990850" cy="4953000"/>
            <a:chOff x="0" y="0"/>
            <a:chExt cx="3987800" cy="6604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3937000" cy="6604000"/>
              <a:chOff x="0" y="0"/>
              <a:chExt cx="3937000" cy="6604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3937000" cy="6604000"/>
              </a:xfrm>
              <a:custGeom>
                <a:avLst/>
                <a:gdLst/>
                <a:ahLst/>
                <a:cxnLst/>
                <a:rect r="r" b="b" t="t" l="l"/>
                <a:pathLst>
                  <a:path h="6604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DFF4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3937000" cy="664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55600" y="1752600"/>
              <a:ext cx="914400" cy="63500"/>
              <a:chOff x="0" y="0"/>
              <a:chExt cx="914400" cy="635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14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16A6A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914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55600" y="631825"/>
              <a:ext cx="3632200" cy="5838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76"/>
                </a:lnSpc>
              </a:pPr>
              <a:r>
                <a:rPr lang="en-US" sz="3150" b="true">
                  <a:solidFill>
                    <a:srgbClr val="11C5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°C ×2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55600" y="2298700"/>
              <a:ext cx="3632200" cy="40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62"/>
                </a:lnSpc>
              </a:pPr>
              <a:r>
                <a:rPr lang="en-US" sz="2175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NTC Thermistors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355600" y="3400425"/>
              <a:ext cx="36322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Motor + driver temperature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763250" y="2419350"/>
            <a:ext cx="2990850" cy="4953000"/>
            <a:chOff x="0" y="0"/>
            <a:chExt cx="3987800" cy="660400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3937000" cy="6604000"/>
              <a:chOff x="0" y="0"/>
              <a:chExt cx="3937000" cy="66040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937000" cy="6604000"/>
              </a:xfrm>
              <a:custGeom>
                <a:avLst/>
                <a:gdLst/>
                <a:ahLst/>
                <a:cxnLst/>
                <a:rect r="r" b="b" t="t" l="l"/>
                <a:pathLst>
                  <a:path h="6604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3937000" cy="664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355600" y="1752600"/>
              <a:ext cx="914400" cy="63500"/>
              <a:chOff x="0" y="0"/>
              <a:chExt cx="914400" cy="635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14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16A6A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914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355600" y="631825"/>
              <a:ext cx="3632200" cy="5838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76"/>
                </a:lnSpc>
              </a:pPr>
              <a:r>
                <a:rPr lang="en-US" sz="3150" b="true">
                  <a:solidFill>
                    <a:srgbClr val="11C5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VDC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55600" y="2298700"/>
              <a:ext cx="3632200" cy="40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62"/>
                </a:lnSpc>
              </a:pPr>
              <a:r>
                <a:rPr lang="en-US" sz="2175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Voltage Sensor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355600" y="3400425"/>
              <a:ext cx="36322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Supply rail monitoring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020800" y="2419350"/>
            <a:ext cx="2990850" cy="4953000"/>
            <a:chOff x="0" y="0"/>
            <a:chExt cx="3987800" cy="6604000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3937000" cy="6604000"/>
              <a:chOff x="0" y="0"/>
              <a:chExt cx="3937000" cy="66040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3937000" cy="6604000"/>
              </a:xfrm>
              <a:custGeom>
                <a:avLst/>
                <a:gdLst/>
                <a:ahLst/>
                <a:cxnLst/>
                <a:rect r="r" b="b" t="t" l="l"/>
                <a:pathLst>
                  <a:path h="6604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07182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3937000" cy="664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355600" y="1752600"/>
              <a:ext cx="914400" cy="63500"/>
              <a:chOff x="0" y="0"/>
              <a:chExt cx="914400" cy="635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14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16A6A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38100"/>
                <a:ext cx="914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355600" y="631825"/>
              <a:ext cx="3632200" cy="5838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76"/>
                </a:lnSpc>
              </a:pPr>
              <a:r>
                <a:rPr lang="en-US" sz="31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RANGE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355600" y="2298700"/>
              <a:ext cx="3632200" cy="40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62"/>
                </a:lnSpc>
              </a:pPr>
              <a:r>
                <a:rPr lang="en-US" sz="21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Ultrasonic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355600" y="3400425"/>
              <a:ext cx="3632200" cy="772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Obstacle safety threshold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90600" y="9705975"/>
            <a:ext cx="533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EMBEDDED WIRELESS MOTOR SYSTEM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573500" y="970597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35">
                <a:solidFill>
                  <a:srgbClr val="64798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1748" y="372987"/>
            <a:ext cx="3217861" cy="9530347"/>
          </a:xfrm>
          <a:custGeom>
            <a:avLst/>
            <a:gdLst/>
            <a:ahLst/>
            <a:cxnLst/>
            <a:rect r="r" b="b" t="t" l="l"/>
            <a:pathLst>
              <a:path h="9530347" w="3217861">
                <a:moveTo>
                  <a:pt x="0" y="0"/>
                </a:moveTo>
                <a:lnTo>
                  <a:pt x="3217861" y="0"/>
                </a:lnTo>
                <a:lnTo>
                  <a:pt x="3217861" y="9530347"/>
                </a:lnTo>
                <a:lnTo>
                  <a:pt x="0" y="95303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55731" y="250012"/>
            <a:ext cx="7376538" cy="505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6"/>
              </a:lnSpc>
              <a:spcBef>
                <a:spcPct val="0"/>
              </a:spcBef>
            </a:pPr>
            <a:r>
              <a:rPr lang="en-US" b="true" sz="356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Layered Firmware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80229" y="1492863"/>
            <a:ext cx="4430312" cy="383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 Layer (APP)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80229" y="4959222"/>
            <a:ext cx="5998938" cy="376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6"/>
              </a:lnSpc>
              <a:spcBef>
                <a:spcPct val="0"/>
              </a:spcBef>
            </a:pPr>
            <a:r>
              <a:rPr lang="en-US" b="true" sz="264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Hardware Abstraction Layer (HAL)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80229" y="7421048"/>
            <a:ext cx="7011876" cy="363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6"/>
              </a:lnSpc>
              <a:spcBef>
                <a:spcPct val="0"/>
              </a:spcBef>
            </a:pPr>
            <a:r>
              <a:rPr lang="en-US" b="true" sz="25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Microcontroller Abstraction Layer (MCAL)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80229" y="6828607"/>
            <a:ext cx="2603172" cy="37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2"/>
              </a:lnSpc>
              <a:spcBef>
                <a:spcPct val="0"/>
              </a:spcBef>
            </a:pPr>
            <a:r>
              <a:rPr lang="en-US" b="true" sz="283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Libraries (LIB)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542925"/>
            <a:ext cx="1524000" cy="13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89" b="true">
                <a:solidFill>
                  <a:srgbClr val="11C5D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 / COMMUNICATION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962025"/>
            <a:ext cx="14287500" cy="54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Safer, Simpler UART Bridge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1638300"/>
            <a:ext cx="16306800" cy="28575"/>
            <a:chOff x="0" y="0"/>
            <a:chExt cx="21742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42400" cy="38100"/>
            </a:xfrm>
            <a:custGeom>
              <a:avLst/>
              <a:gdLst/>
              <a:ahLst/>
              <a:cxnLst/>
              <a:rect r="r" b="b" t="t" l="l"/>
              <a:pathLst>
                <a:path h="381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1C5D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7424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5619750" y="3857625"/>
            <a:ext cx="1428750" cy="0"/>
          </a:xfrm>
          <a:prstGeom prst="line">
            <a:avLst/>
          </a:prstGeom>
          <a:ln cap="rnd" w="47625">
            <a:solidFill>
              <a:srgbClr val="11C5D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11239500" y="3857625"/>
            <a:ext cx="1428750" cy="0"/>
          </a:xfrm>
          <a:prstGeom prst="line">
            <a:avLst/>
          </a:prstGeom>
          <a:ln cap="rnd" w="47625">
            <a:solidFill>
              <a:srgbClr val="11C5D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 flipH="true">
            <a:off x="11239500" y="5429250"/>
            <a:ext cx="1428750" cy="0"/>
          </a:xfrm>
          <a:prstGeom prst="line">
            <a:avLst/>
          </a:prstGeom>
          <a:ln cap="rnd" w="47625">
            <a:solidFill>
              <a:srgbClr val="11C5D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 flipH="true">
            <a:off x="5619750" y="5429250"/>
            <a:ext cx="1428750" cy="0"/>
          </a:xfrm>
          <a:prstGeom prst="line">
            <a:avLst/>
          </a:prstGeom>
          <a:ln cap="rnd" w="47625">
            <a:solidFill>
              <a:srgbClr val="11C5D9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1524000" y="3219450"/>
            <a:ext cx="4000500" cy="2857500"/>
            <a:chOff x="0" y="0"/>
            <a:chExt cx="5334000" cy="381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5334000">
                  <a:moveTo>
                    <a:pt x="42333" y="0"/>
                  </a:moveTo>
                  <a:lnTo>
                    <a:pt x="5291667" y="0"/>
                  </a:lnTo>
                  <a:cubicBezTo>
                    <a:pt x="5302894" y="0"/>
                    <a:pt x="5313662" y="4460"/>
                    <a:pt x="5321601" y="12399"/>
                  </a:cubicBezTo>
                  <a:cubicBezTo>
                    <a:pt x="5329540" y="20338"/>
                    <a:pt x="5334000" y="31106"/>
                    <a:pt x="5334000" y="42333"/>
                  </a:cubicBezTo>
                  <a:lnTo>
                    <a:pt x="5334000" y="3767667"/>
                  </a:lnTo>
                  <a:cubicBezTo>
                    <a:pt x="5334000" y="3778894"/>
                    <a:pt x="5329540" y="3789662"/>
                    <a:pt x="5321601" y="3797601"/>
                  </a:cubicBezTo>
                  <a:cubicBezTo>
                    <a:pt x="5313662" y="3805540"/>
                    <a:pt x="5302894" y="3810000"/>
                    <a:pt x="5291667" y="3810000"/>
                  </a:cubicBezTo>
                  <a:lnTo>
                    <a:pt x="42333" y="3810000"/>
                  </a:lnTo>
                  <a:cubicBezTo>
                    <a:pt x="31106" y="3810000"/>
                    <a:pt x="20338" y="3805540"/>
                    <a:pt x="12399" y="3797601"/>
                  </a:cubicBezTo>
                  <a:cubicBezTo>
                    <a:pt x="4460" y="3789662"/>
                    <a:pt x="0" y="3778894"/>
                    <a:pt x="0" y="3767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5334000" cy="379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ATmega32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5V LOGIC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43750" y="3219450"/>
            <a:ext cx="4000500" cy="2857500"/>
            <a:chOff x="0" y="0"/>
            <a:chExt cx="5334000" cy="381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34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5334000">
                  <a:moveTo>
                    <a:pt x="42333" y="0"/>
                  </a:moveTo>
                  <a:lnTo>
                    <a:pt x="5291667" y="0"/>
                  </a:lnTo>
                  <a:cubicBezTo>
                    <a:pt x="5302894" y="0"/>
                    <a:pt x="5313662" y="4460"/>
                    <a:pt x="5321601" y="12399"/>
                  </a:cubicBezTo>
                  <a:cubicBezTo>
                    <a:pt x="5329540" y="20338"/>
                    <a:pt x="5334000" y="31106"/>
                    <a:pt x="5334000" y="42333"/>
                  </a:cubicBezTo>
                  <a:lnTo>
                    <a:pt x="5334000" y="3767667"/>
                  </a:lnTo>
                  <a:cubicBezTo>
                    <a:pt x="5334000" y="3778894"/>
                    <a:pt x="5329540" y="3789662"/>
                    <a:pt x="5321601" y="3797601"/>
                  </a:cubicBezTo>
                  <a:cubicBezTo>
                    <a:pt x="5313662" y="3805540"/>
                    <a:pt x="5302894" y="3810000"/>
                    <a:pt x="5291667" y="3810000"/>
                  </a:cubicBezTo>
                  <a:lnTo>
                    <a:pt x="42333" y="3810000"/>
                  </a:lnTo>
                  <a:cubicBezTo>
                    <a:pt x="31106" y="3810000"/>
                    <a:pt x="20338" y="3805540"/>
                    <a:pt x="12399" y="3797601"/>
                  </a:cubicBezTo>
                  <a:cubicBezTo>
                    <a:pt x="4460" y="3789662"/>
                    <a:pt x="0" y="3778894"/>
                    <a:pt x="0" y="3767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11C5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5334000" cy="379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BI-DIRECTIONAL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LEVEL CONVERTER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5V ↔ 3.3V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763500" y="3219450"/>
            <a:ext cx="4000500" cy="2857500"/>
            <a:chOff x="0" y="0"/>
            <a:chExt cx="5334000" cy="381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34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5334000">
                  <a:moveTo>
                    <a:pt x="42333" y="0"/>
                  </a:moveTo>
                  <a:lnTo>
                    <a:pt x="5291667" y="0"/>
                  </a:lnTo>
                  <a:cubicBezTo>
                    <a:pt x="5302894" y="0"/>
                    <a:pt x="5313662" y="4460"/>
                    <a:pt x="5321601" y="12399"/>
                  </a:cubicBezTo>
                  <a:cubicBezTo>
                    <a:pt x="5329540" y="20338"/>
                    <a:pt x="5334000" y="31106"/>
                    <a:pt x="5334000" y="42333"/>
                  </a:cubicBezTo>
                  <a:lnTo>
                    <a:pt x="5334000" y="3767667"/>
                  </a:lnTo>
                  <a:cubicBezTo>
                    <a:pt x="5334000" y="3778894"/>
                    <a:pt x="5329540" y="3789662"/>
                    <a:pt x="5321601" y="3797601"/>
                  </a:cubicBezTo>
                  <a:cubicBezTo>
                    <a:pt x="5313662" y="3805540"/>
                    <a:pt x="5302894" y="3810000"/>
                    <a:pt x="5291667" y="3810000"/>
                  </a:cubicBezTo>
                  <a:lnTo>
                    <a:pt x="42333" y="3810000"/>
                  </a:lnTo>
                  <a:cubicBezTo>
                    <a:pt x="31106" y="3810000"/>
                    <a:pt x="20338" y="3805540"/>
                    <a:pt x="12399" y="3797601"/>
                  </a:cubicBezTo>
                  <a:cubicBezTo>
                    <a:pt x="4460" y="3789662"/>
                    <a:pt x="0" y="3778894"/>
                    <a:pt x="0" y="3767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5334000" cy="379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ESP32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3.3V LOGIC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096000" y="2705100"/>
            <a:ext cx="857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165">
                <a:solidFill>
                  <a:srgbClr val="11C5D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96000" y="6267450"/>
            <a:ext cx="857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165">
                <a:solidFill>
                  <a:srgbClr val="11C5D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RX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81250" y="7486650"/>
            <a:ext cx="13525500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Direct full-duplex UART replaces the legacy RS-485 stage — fewer ICs, no termination network, smaller footprint.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0600" y="9705975"/>
            <a:ext cx="533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 b="true">
                <a:solidFill>
                  <a:srgbClr val="11C5D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EMBEDDED WIRELESS MOTOR SYSTEM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73500" y="970597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35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42060" y="1839784"/>
            <a:ext cx="13803880" cy="6236271"/>
          </a:xfrm>
          <a:custGeom>
            <a:avLst/>
            <a:gdLst/>
            <a:ahLst/>
            <a:cxnLst/>
            <a:rect r="r" b="b" t="t" l="l"/>
            <a:pathLst>
              <a:path h="6236271" w="13803880">
                <a:moveTo>
                  <a:pt x="0" y="0"/>
                </a:moveTo>
                <a:lnTo>
                  <a:pt x="13803880" y="0"/>
                </a:lnTo>
                <a:lnTo>
                  <a:pt x="13803880" y="6236270"/>
                </a:lnTo>
                <a:lnTo>
                  <a:pt x="0" y="6236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514350"/>
            <a:ext cx="1524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65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07 / POWER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962025"/>
            <a:ext cx="14287500" cy="54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4050" b="true">
                <a:solidFill>
                  <a:srgbClr val="1027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Integrity from 12V to Logic Rails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1638300"/>
            <a:ext cx="16306800" cy="28575"/>
            <a:chOff x="0" y="0"/>
            <a:chExt cx="21742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42400" cy="38100"/>
            </a:xfrm>
            <a:custGeom>
              <a:avLst/>
              <a:gdLst/>
              <a:ahLst/>
              <a:cxnLst/>
              <a:rect r="r" b="b" t="t" l="l"/>
              <a:pathLst>
                <a:path h="381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7424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3562350" y="4029075"/>
            <a:ext cx="762000" cy="0"/>
          </a:xfrm>
          <a:prstGeom prst="line">
            <a:avLst/>
          </a:prstGeom>
          <a:ln cap="rnd" w="47625">
            <a:solidFill>
              <a:srgbClr val="16A6A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6705600" y="4029075"/>
            <a:ext cx="762000" cy="0"/>
          </a:xfrm>
          <a:prstGeom prst="line">
            <a:avLst/>
          </a:prstGeom>
          <a:ln cap="rnd" w="47625">
            <a:solidFill>
              <a:srgbClr val="16A6A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 flipV="true">
            <a:off x="10229850" y="3333750"/>
            <a:ext cx="762000" cy="523875"/>
          </a:xfrm>
          <a:prstGeom prst="line">
            <a:avLst/>
          </a:prstGeom>
          <a:ln cap="rnd" w="47625">
            <a:solidFill>
              <a:srgbClr val="16A6A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>
            <a:off x="10229850" y="4333875"/>
            <a:ext cx="762000" cy="1285875"/>
          </a:xfrm>
          <a:prstGeom prst="line">
            <a:avLst/>
          </a:prstGeom>
          <a:ln cap="rnd" w="47625">
            <a:solidFill>
              <a:srgbClr val="16A6A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>
            <a:off x="14039850" y="5619750"/>
            <a:ext cx="762000" cy="0"/>
          </a:xfrm>
          <a:prstGeom prst="line">
            <a:avLst/>
          </a:prstGeom>
          <a:ln cap="rnd" w="47625">
            <a:solidFill>
              <a:srgbClr val="16A6A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990600" y="3219450"/>
            <a:ext cx="2476500" cy="1619250"/>
            <a:chOff x="0" y="0"/>
            <a:chExt cx="3302000" cy="2159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02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302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2090615"/>
                  </a:lnTo>
                  <a:cubicBezTo>
                    <a:pt x="3302000" y="2108752"/>
                    <a:pt x="3294795" y="2126146"/>
                    <a:pt x="3281971" y="2138971"/>
                  </a:cubicBezTo>
                  <a:cubicBezTo>
                    <a:pt x="3269146" y="2151795"/>
                    <a:pt x="3251752" y="2159000"/>
                    <a:pt x="3233615" y="2159000"/>
                  </a:cubicBezTo>
                  <a:lnTo>
                    <a:pt x="68385" y="2159000"/>
                  </a:lnTo>
                  <a:cubicBezTo>
                    <a:pt x="50248" y="2159000"/>
                    <a:pt x="32854" y="2151795"/>
                    <a:pt x="20029" y="2138971"/>
                  </a:cubicBezTo>
                  <a:cubicBezTo>
                    <a:pt x="7205" y="2126146"/>
                    <a:pt x="0" y="2108752"/>
                    <a:pt x="0" y="2090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071827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3302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12V DC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2–3A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419600" y="3219450"/>
            <a:ext cx="2190750" cy="1619250"/>
            <a:chOff x="0" y="0"/>
            <a:chExt cx="2921000" cy="2159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21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921000">
                  <a:moveTo>
                    <a:pt x="77304" y="0"/>
                  </a:moveTo>
                  <a:lnTo>
                    <a:pt x="2843696" y="0"/>
                  </a:lnTo>
                  <a:cubicBezTo>
                    <a:pt x="2864198" y="0"/>
                    <a:pt x="2883861" y="8145"/>
                    <a:pt x="2898358" y="22642"/>
                  </a:cubicBezTo>
                  <a:cubicBezTo>
                    <a:pt x="2912856" y="37139"/>
                    <a:pt x="2921000" y="56802"/>
                    <a:pt x="2921000" y="77304"/>
                  </a:cubicBezTo>
                  <a:lnTo>
                    <a:pt x="2921000" y="2081696"/>
                  </a:lnTo>
                  <a:cubicBezTo>
                    <a:pt x="2921000" y="2102198"/>
                    <a:pt x="2912856" y="2121861"/>
                    <a:pt x="2898358" y="2136358"/>
                  </a:cubicBezTo>
                  <a:cubicBezTo>
                    <a:pt x="2883861" y="2150856"/>
                    <a:pt x="2864198" y="2159000"/>
                    <a:pt x="2843696" y="2159000"/>
                  </a:cubicBezTo>
                  <a:lnTo>
                    <a:pt x="77304" y="2159000"/>
                  </a:lnTo>
                  <a:cubicBezTo>
                    <a:pt x="56802" y="2159000"/>
                    <a:pt x="37139" y="2150856"/>
                    <a:pt x="22642" y="2136358"/>
                  </a:cubicBezTo>
                  <a:cubicBezTo>
                    <a:pt x="8145" y="2121861"/>
                    <a:pt x="0" y="2102198"/>
                    <a:pt x="0" y="2081696"/>
                  </a:cubicBezTo>
                  <a:lnTo>
                    <a:pt x="0" y="77304"/>
                  </a:lnTo>
                  <a:cubicBezTo>
                    <a:pt x="0" y="56802"/>
                    <a:pt x="8145" y="37139"/>
                    <a:pt x="22642" y="22642"/>
                  </a:cubicBezTo>
                  <a:cubicBezTo>
                    <a:pt x="37139" y="8145"/>
                    <a:pt x="56802" y="0"/>
                    <a:pt x="77304" y="0"/>
                  </a:cubicBezTo>
                  <a:close/>
                </a:path>
              </a:pathLst>
            </a:custGeom>
            <a:solidFill>
              <a:srgbClr val="FFB547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2921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FUSE +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BUFFERING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62850" y="3219450"/>
            <a:ext cx="2571750" cy="1619250"/>
            <a:chOff x="0" y="0"/>
            <a:chExt cx="3429000" cy="2159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2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429000">
                  <a:moveTo>
                    <a:pt x="65852" y="0"/>
                  </a:moveTo>
                  <a:lnTo>
                    <a:pt x="3363148" y="0"/>
                  </a:lnTo>
                  <a:cubicBezTo>
                    <a:pt x="3399517" y="0"/>
                    <a:pt x="3429000" y="29483"/>
                    <a:pt x="3429000" y="65852"/>
                  </a:cubicBezTo>
                  <a:lnTo>
                    <a:pt x="3429000" y="2093148"/>
                  </a:lnTo>
                  <a:cubicBezTo>
                    <a:pt x="3429000" y="2129517"/>
                    <a:pt x="3399517" y="2159000"/>
                    <a:pt x="3363148" y="2159000"/>
                  </a:cubicBezTo>
                  <a:lnTo>
                    <a:pt x="65852" y="2159000"/>
                  </a:lnTo>
                  <a:cubicBezTo>
                    <a:pt x="29483" y="2159000"/>
                    <a:pt x="0" y="2129517"/>
                    <a:pt x="0" y="2093148"/>
                  </a:cubicBezTo>
                  <a:lnTo>
                    <a:pt x="0" y="65852"/>
                  </a:lnTo>
                  <a:cubicBezTo>
                    <a:pt x="0" y="29483"/>
                    <a:pt x="29483" y="0"/>
                    <a:pt x="65852" y="0"/>
                  </a:cubicBezTo>
                  <a:close/>
                </a:path>
              </a:pathLst>
            </a:custGeom>
            <a:solidFill>
              <a:srgbClr val="11C5D9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3429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LM2596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12V → 5V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87100" y="2667000"/>
            <a:ext cx="2857500" cy="1333500"/>
            <a:chOff x="0" y="0"/>
            <a:chExt cx="3810000" cy="1778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718733"/>
                  </a:lnTo>
                  <a:cubicBezTo>
                    <a:pt x="3810000" y="1751465"/>
                    <a:pt x="3783466" y="1778000"/>
                    <a:pt x="3750733" y="1778000"/>
                  </a:cubicBezTo>
                  <a:lnTo>
                    <a:pt x="59267" y="1778000"/>
                  </a:lnTo>
                  <a:cubicBezTo>
                    <a:pt x="26535" y="1778000"/>
                    <a:pt x="0" y="1751465"/>
                    <a:pt x="0" y="1718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3810000" cy="175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5V RAIL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MCU • SENSORS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087100" y="4953000"/>
            <a:ext cx="2857500" cy="1333500"/>
            <a:chOff x="0" y="0"/>
            <a:chExt cx="3810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0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718733"/>
                  </a:lnTo>
                  <a:cubicBezTo>
                    <a:pt x="3810000" y="1751465"/>
                    <a:pt x="3783466" y="1778000"/>
                    <a:pt x="3750733" y="1778000"/>
                  </a:cubicBezTo>
                  <a:lnTo>
                    <a:pt x="59267" y="1778000"/>
                  </a:lnTo>
                  <a:cubicBezTo>
                    <a:pt x="26535" y="1778000"/>
                    <a:pt x="0" y="1751465"/>
                    <a:pt x="0" y="1718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071827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3810000" cy="175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3.3V REGULATOR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897100" y="4953000"/>
            <a:ext cx="2381250" cy="1333500"/>
            <a:chOff x="0" y="0"/>
            <a:chExt cx="3175000" cy="1778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75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3175000">
                  <a:moveTo>
                    <a:pt x="71120" y="0"/>
                  </a:moveTo>
                  <a:lnTo>
                    <a:pt x="3103880" y="0"/>
                  </a:lnTo>
                  <a:cubicBezTo>
                    <a:pt x="3143159" y="0"/>
                    <a:pt x="3175000" y="31842"/>
                    <a:pt x="3175000" y="71120"/>
                  </a:cubicBezTo>
                  <a:lnTo>
                    <a:pt x="3175000" y="1706880"/>
                  </a:lnTo>
                  <a:cubicBezTo>
                    <a:pt x="3175000" y="1746159"/>
                    <a:pt x="3143159" y="1778000"/>
                    <a:pt x="3103880" y="1778000"/>
                  </a:cubicBezTo>
                  <a:lnTo>
                    <a:pt x="71120" y="1778000"/>
                  </a:lnTo>
                  <a:cubicBezTo>
                    <a:pt x="31842" y="1778000"/>
                    <a:pt x="0" y="1746159"/>
                    <a:pt x="0" y="17068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19050"/>
              <a:ext cx="3175000" cy="175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ESP32 +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LEVEL SHIFT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4095750" y="7048500"/>
            <a:ext cx="4476750" cy="28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sz="2100" b="true">
                <a:solidFill>
                  <a:srgbClr val="1027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470–1000µF + 100µF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95750" y="7477125"/>
            <a:ext cx="4476750" cy="58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02735"/>
                </a:solidFill>
                <a:latin typeface="Montserrat"/>
                <a:ea typeface="Montserrat"/>
                <a:cs typeface="Montserrat"/>
                <a:sym typeface="Montserrat"/>
              </a:rPr>
              <a:t>Startup-current buffering &amp; low-frequency decoupling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06000" y="7048500"/>
            <a:ext cx="4000500" cy="28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sz="2100" b="true">
                <a:solidFill>
                  <a:srgbClr val="1027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100nF CERAMIC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06000" y="7477125"/>
            <a:ext cx="4476750" cy="58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02735"/>
                </a:solidFill>
                <a:latin typeface="Montserrat"/>
                <a:ea typeface="Montserrat"/>
                <a:cs typeface="Montserrat"/>
                <a:sym typeface="Montserrat"/>
              </a:rPr>
              <a:t>High-frequency noise suppression at each logic rail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0600" y="9705975"/>
            <a:ext cx="533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EMBEDDED WIRELESS MOTOR SYSTEM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73500" y="970597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35">
                <a:solidFill>
                  <a:srgbClr val="64798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523875"/>
            <a:ext cx="1524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50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08 / SAFETY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962025"/>
            <a:ext cx="14287500" cy="54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4050" b="true">
                <a:solidFill>
                  <a:srgbClr val="1027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Autonomous Decisions — No Network Required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1638300"/>
            <a:ext cx="16306800" cy="28575"/>
            <a:chOff x="0" y="0"/>
            <a:chExt cx="21742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42400" cy="38100"/>
            </a:xfrm>
            <a:custGeom>
              <a:avLst/>
              <a:gdLst/>
              <a:ahLst/>
              <a:cxnLst/>
              <a:rect r="r" b="b" t="t" l="l"/>
              <a:pathLst>
                <a:path h="381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7424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flipH="true">
            <a:off x="3762375" y="3333750"/>
            <a:ext cx="5381625" cy="895350"/>
          </a:xfrm>
          <a:prstGeom prst="line">
            <a:avLst/>
          </a:prstGeom>
          <a:ln cap="rnd" w="47625">
            <a:solidFill>
              <a:srgbClr val="11C5D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9144000" y="3333750"/>
            <a:ext cx="0" cy="895350"/>
          </a:xfrm>
          <a:prstGeom prst="line">
            <a:avLst/>
          </a:prstGeom>
          <a:ln cap="rnd" w="47625">
            <a:solidFill>
              <a:srgbClr val="11C5D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>
            <a:off x="9144000" y="3333750"/>
            <a:ext cx="5381625" cy="895350"/>
          </a:xfrm>
          <a:prstGeom prst="line">
            <a:avLst/>
          </a:prstGeom>
          <a:ln cap="rnd" w="47625">
            <a:solidFill>
              <a:srgbClr val="11C5D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>
            <a:off x="3762375" y="5753100"/>
            <a:ext cx="0" cy="1295400"/>
          </a:xfrm>
          <a:prstGeom prst="line">
            <a:avLst/>
          </a:prstGeom>
          <a:ln cap="rnd" w="47625">
            <a:solidFill>
              <a:srgbClr val="EF5B5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>
            <a:off x="9144000" y="5753100"/>
            <a:ext cx="0" cy="1295400"/>
          </a:xfrm>
          <a:prstGeom prst="line">
            <a:avLst/>
          </a:prstGeom>
          <a:ln cap="rnd" w="47625">
            <a:solidFill>
              <a:srgbClr val="FFB547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6477000" y="2190750"/>
            <a:ext cx="5334000" cy="1047750"/>
            <a:chOff x="0" y="0"/>
            <a:chExt cx="7112000" cy="139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1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7112000">
                  <a:moveTo>
                    <a:pt x="31750" y="0"/>
                  </a:moveTo>
                  <a:lnTo>
                    <a:pt x="7080250" y="0"/>
                  </a:lnTo>
                  <a:cubicBezTo>
                    <a:pt x="7097785" y="0"/>
                    <a:pt x="7112000" y="14215"/>
                    <a:pt x="7112000" y="31750"/>
                  </a:cubicBezTo>
                  <a:lnTo>
                    <a:pt x="7112000" y="1365250"/>
                  </a:lnTo>
                  <a:cubicBezTo>
                    <a:pt x="7112000" y="1382785"/>
                    <a:pt x="7097785" y="1397000"/>
                    <a:pt x="7080250" y="1397000"/>
                  </a:cubicBezTo>
                  <a:lnTo>
                    <a:pt x="31750" y="1397000"/>
                  </a:lnTo>
                  <a:cubicBezTo>
                    <a:pt x="14215" y="1397000"/>
                    <a:pt x="0" y="1382785"/>
                    <a:pt x="0" y="1365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071827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71120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CONTINUOUS CLOSED-LOOP MONITORING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14500" y="4324350"/>
            <a:ext cx="4095750" cy="1333500"/>
            <a:chOff x="0" y="0"/>
            <a:chExt cx="5461000" cy="177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61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461000">
                  <a:moveTo>
                    <a:pt x="41349" y="0"/>
                  </a:moveTo>
                  <a:lnTo>
                    <a:pt x="5419651" y="0"/>
                  </a:lnTo>
                  <a:cubicBezTo>
                    <a:pt x="5430618" y="0"/>
                    <a:pt x="5441135" y="4356"/>
                    <a:pt x="5448889" y="12111"/>
                  </a:cubicBezTo>
                  <a:cubicBezTo>
                    <a:pt x="5456644" y="19865"/>
                    <a:pt x="5461000" y="30382"/>
                    <a:pt x="5461000" y="41349"/>
                  </a:cubicBezTo>
                  <a:lnTo>
                    <a:pt x="5461000" y="1736651"/>
                  </a:lnTo>
                  <a:cubicBezTo>
                    <a:pt x="5461000" y="1747618"/>
                    <a:pt x="5456644" y="1758135"/>
                    <a:pt x="5448889" y="1765889"/>
                  </a:cubicBezTo>
                  <a:cubicBezTo>
                    <a:pt x="5441135" y="1773644"/>
                    <a:pt x="5430618" y="1778000"/>
                    <a:pt x="5419651" y="1778000"/>
                  </a:cubicBezTo>
                  <a:lnTo>
                    <a:pt x="41349" y="1778000"/>
                  </a:lnTo>
                  <a:cubicBezTo>
                    <a:pt x="30382" y="1778000"/>
                    <a:pt x="19865" y="1773644"/>
                    <a:pt x="12111" y="1765889"/>
                  </a:cubicBezTo>
                  <a:cubicBezTo>
                    <a:pt x="4356" y="1758135"/>
                    <a:pt x="0" y="1747618"/>
                    <a:pt x="0" y="1736651"/>
                  </a:cubicBezTo>
                  <a:lnTo>
                    <a:pt x="0" y="41349"/>
                  </a:lnTo>
                  <a:cubicBezTo>
                    <a:pt x="0" y="30382"/>
                    <a:pt x="4356" y="19865"/>
                    <a:pt x="12111" y="12111"/>
                  </a:cubicBezTo>
                  <a:cubicBezTo>
                    <a:pt x="19865" y="4356"/>
                    <a:pt x="30382" y="0"/>
                    <a:pt x="4134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5461000" cy="175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OBSTACLE WITHIN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SAFETY RANGE?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096125" y="4324350"/>
            <a:ext cx="4095750" cy="1333500"/>
            <a:chOff x="0" y="0"/>
            <a:chExt cx="5461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61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461000">
                  <a:moveTo>
                    <a:pt x="41349" y="0"/>
                  </a:moveTo>
                  <a:lnTo>
                    <a:pt x="5419651" y="0"/>
                  </a:lnTo>
                  <a:cubicBezTo>
                    <a:pt x="5430618" y="0"/>
                    <a:pt x="5441135" y="4356"/>
                    <a:pt x="5448889" y="12111"/>
                  </a:cubicBezTo>
                  <a:cubicBezTo>
                    <a:pt x="5456644" y="19865"/>
                    <a:pt x="5461000" y="30382"/>
                    <a:pt x="5461000" y="41349"/>
                  </a:cubicBezTo>
                  <a:lnTo>
                    <a:pt x="5461000" y="1736651"/>
                  </a:lnTo>
                  <a:cubicBezTo>
                    <a:pt x="5461000" y="1747618"/>
                    <a:pt x="5456644" y="1758135"/>
                    <a:pt x="5448889" y="1765889"/>
                  </a:cubicBezTo>
                  <a:cubicBezTo>
                    <a:pt x="5441135" y="1773644"/>
                    <a:pt x="5430618" y="1778000"/>
                    <a:pt x="5419651" y="1778000"/>
                  </a:cubicBezTo>
                  <a:lnTo>
                    <a:pt x="41349" y="1778000"/>
                  </a:lnTo>
                  <a:cubicBezTo>
                    <a:pt x="30382" y="1778000"/>
                    <a:pt x="19865" y="1773644"/>
                    <a:pt x="12111" y="1765889"/>
                  </a:cubicBezTo>
                  <a:cubicBezTo>
                    <a:pt x="4356" y="1758135"/>
                    <a:pt x="0" y="1747618"/>
                    <a:pt x="0" y="1736651"/>
                  </a:cubicBezTo>
                  <a:lnTo>
                    <a:pt x="0" y="41349"/>
                  </a:lnTo>
                  <a:cubicBezTo>
                    <a:pt x="0" y="30382"/>
                    <a:pt x="4356" y="19865"/>
                    <a:pt x="12111" y="12111"/>
                  </a:cubicBezTo>
                  <a:cubicBezTo>
                    <a:pt x="19865" y="4356"/>
                    <a:pt x="30382" y="0"/>
                    <a:pt x="4134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5461000" cy="175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RPM BELOW THRESHOLD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UNDER LOAD?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7750" y="4324350"/>
            <a:ext cx="4095750" cy="1333500"/>
            <a:chOff x="0" y="0"/>
            <a:chExt cx="5461000" cy="1778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61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461000">
                  <a:moveTo>
                    <a:pt x="41349" y="0"/>
                  </a:moveTo>
                  <a:lnTo>
                    <a:pt x="5419651" y="0"/>
                  </a:lnTo>
                  <a:cubicBezTo>
                    <a:pt x="5430618" y="0"/>
                    <a:pt x="5441135" y="4356"/>
                    <a:pt x="5448889" y="12111"/>
                  </a:cubicBezTo>
                  <a:cubicBezTo>
                    <a:pt x="5456644" y="19865"/>
                    <a:pt x="5461000" y="30382"/>
                    <a:pt x="5461000" y="41349"/>
                  </a:cubicBezTo>
                  <a:lnTo>
                    <a:pt x="5461000" y="1736651"/>
                  </a:lnTo>
                  <a:cubicBezTo>
                    <a:pt x="5461000" y="1747618"/>
                    <a:pt x="5456644" y="1758135"/>
                    <a:pt x="5448889" y="1765889"/>
                  </a:cubicBezTo>
                  <a:cubicBezTo>
                    <a:pt x="5441135" y="1773644"/>
                    <a:pt x="5430618" y="1778000"/>
                    <a:pt x="5419651" y="1778000"/>
                  </a:cubicBezTo>
                  <a:lnTo>
                    <a:pt x="41349" y="1778000"/>
                  </a:lnTo>
                  <a:cubicBezTo>
                    <a:pt x="30382" y="1778000"/>
                    <a:pt x="19865" y="1773644"/>
                    <a:pt x="12111" y="1765889"/>
                  </a:cubicBezTo>
                  <a:cubicBezTo>
                    <a:pt x="4356" y="1758135"/>
                    <a:pt x="0" y="1747618"/>
                    <a:pt x="0" y="1736651"/>
                  </a:cubicBezTo>
                  <a:lnTo>
                    <a:pt x="0" y="41349"/>
                  </a:lnTo>
                  <a:cubicBezTo>
                    <a:pt x="0" y="30382"/>
                    <a:pt x="4356" y="19865"/>
                    <a:pt x="12111" y="12111"/>
                  </a:cubicBezTo>
                  <a:cubicBezTo>
                    <a:pt x="19865" y="4356"/>
                    <a:pt x="30382" y="0"/>
                    <a:pt x="41349" y="0"/>
                  </a:cubicBez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5461000" cy="175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NORMAL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OPERATION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714500" y="7143750"/>
            <a:ext cx="4095750" cy="1333500"/>
            <a:chOff x="0" y="0"/>
            <a:chExt cx="5461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61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461000">
                  <a:moveTo>
                    <a:pt x="41349" y="0"/>
                  </a:moveTo>
                  <a:lnTo>
                    <a:pt x="5419651" y="0"/>
                  </a:lnTo>
                  <a:cubicBezTo>
                    <a:pt x="5430618" y="0"/>
                    <a:pt x="5441135" y="4356"/>
                    <a:pt x="5448889" y="12111"/>
                  </a:cubicBezTo>
                  <a:cubicBezTo>
                    <a:pt x="5456644" y="19865"/>
                    <a:pt x="5461000" y="30382"/>
                    <a:pt x="5461000" y="41349"/>
                  </a:cubicBezTo>
                  <a:lnTo>
                    <a:pt x="5461000" y="1736651"/>
                  </a:lnTo>
                  <a:cubicBezTo>
                    <a:pt x="5461000" y="1747618"/>
                    <a:pt x="5456644" y="1758135"/>
                    <a:pt x="5448889" y="1765889"/>
                  </a:cubicBezTo>
                  <a:cubicBezTo>
                    <a:pt x="5441135" y="1773644"/>
                    <a:pt x="5430618" y="1778000"/>
                    <a:pt x="5419651" y="1778000"/>
                  </a:cubicBezTo>
                  <a:lnTo>
                    <a:pt x="41349" y="1778000"/>
                  </a:lnTo>
                  <a:cubicBezTo>
                    <a:pt x="30382" y="1778000"/>
                    <a:pt x="19865" y="1773644"/>
                    <a:pt x="12111" y="1765889"/>
                  </a:cubicBezTo>
                  <a:cubicBezTo>
                    <a:pt x="4356" y="1758135"/>
                    <a:pt x="0" y="1747618"/>
                    <a:pt x="0" y="1736651"/>
                  </a:cubicBezTo>
                  <a:lnTo>
                    <a:pt x="0" y="41349"/>
                  </a:lnTo>
                  <a:cubicBezTo>
                    <a:pt x="0" y="30382"/>
                    <a:pt x="4356" y="19865"/>
                    <a:pt x="12111" y="12111"/>
                  </a:cubicBezTo>
                  <a:cubicBezTo>
                    <a:pt x="19865" y="4356"/>
                    <a:pt x="30382" y="0"/>
                    <a:pt x="41349" y="0"/>
                  </a:cubicBezTo>
                  <a:close/>
                </a:path>
              </a:pathLst>
            </a:custGeom>
            <a:solidFill>
              <a:srgbClr val="EF5B5B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5461000" cy="175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IMMEDIATE STOP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+ ACTIVE BUZZER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096125" y="7143750"/>
            <a:ext cx="4095750" cy="1333500"/>
            <a:chOff x="0" y="0"/>
            <a:chExt cx="5461000" cy="1778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61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461000">
                  <a:moveTo>
                    <a:pt x="41349" y="0"/>
                  </a:moveTo>
                  <a:lnTo>
                    <a:pt x="5419651" y="0"/>
                  </a:lnTo>
                  <a:cubicBezTo>
                    <a:pt x="5430618" y="0"/>
                    <a:pt x="5441135" y="4356"/>
                    <a:pt x="5448889" y="12111"/>
                  </a:cubicBezTo>
                  <a:cubicBezTo>
                    <a:pt x="5456644" y="19865"/>
                    <a:pt x="5461000" y="30382"/>
                    <a:pt x="5461000" y="41349"/>
                  </a:cubicBezTo>
                  <a:lnTo>
                    <a:pt x="5461000" y="1736651"/>
                  </a:lnTo>
                  <a:cubicBezTo>
                    <a:pt x="5461000" y="1747618"/>
                    <a:pt x="5456644" y="1758135"/>
                    <a:pt x="5448889" y="1765889"/>
                  </a:cubicBezTo>
                  <a:cubicBezTo>
                    <a:pt x="5441135" y="1773644"/>
                    <a:pt x="5430618" y="1778000"/>
                    <a:pt x="5419651" y="1778000"/>
                  </a:cubicBezTo>
                  <a:lnTo>
                    <a:pt x="41349" y="1778000"/>
                  </a:lnTo>
                  <a:cubicBezTo>
                    <a:pt x="30382" y="1778000"/>
                    <a:pt x="19865" y="1773644"/>
                    <a:pt x="12111" y="1765889"/>
                  </a:cubicBezTo>
                  <a:cubicBezTo>
                    <a:pt x="4356" y="1758135"/>
                    <a:pt x="0" y="1747618"/>
                    <a:pt x="0" y="1736651"/>
                  </a:cubicBezTo>
                  <a:lnTo>
                    <a:pt x="0" y="41349"/>
                  </a:lnTo>
                  <a:cubicBezTo>
                    <a:pt x="0" y="30382"/>
                    <a:pt x="4356" y="19865"/>
                    <a:pt x="12111" y="12111"/>
                  </a:cubicBezTo>
                  <a:cubicBezTo>
                    <a:pt x="19865" y="4356"/>
                    <a:pt x="30382" y="0"/>
                    <a:pt x="41349" y="0"/>
                  </a:cubicBezTo>
                  <a:close/>
                </a:path>
              </a:pathLst>
            </a:custGeom>
            <a:solidFill>
              <a:srgbClr val="FFB5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19050"/>
              <a:ext cx="5461000" cy="175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WARNING BUZZER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+ FAULT FLAG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90600" y="9705975"/>
            <a:ext cx="533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EMBEDDED WIRELESS MOTOR SYSTEM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73500" y="970597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35">
                <a:solidFill>
                  <a:srgbClr val="64798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533400"/>
            <a:ext cx="1524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27" b="true">
                <a:solidFill>
                  <a:srgbClr val="11C5D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09 / FIRMWARE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962025"/>
            <a:ext cx="14287500" cy="54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Deterministic Control Meets Connected Telemetry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1638300"/>
            <a:ext cx="16306800" cy="28575"/>
            <a:chOff x="0" y="0"/>
            <a:chExt cx="21742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42400" cy="38100"/>
            </a:xfrm>
            <a:custGeom>
              <a:avLst/>
              <a:gdLst/>
              <a:ahLst/>
              <a:cxnLst/>
              <a:rect r="r" b="b" t="t" l="l"/>
              <a:pathLst>
                <a:path h="381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1C5D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7424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90600" y="2133600"/>
            <a:ext cx="7429500" cy="6286500"/>
            <a:chOff x="0" y="0"/>
            <a:chExt cx="9906000" cy="838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06000" cy="8382000"/>
            </a:xfrm>
            <a:custGeom>
              <a:avLst/>
              <a:gdLst/>
              <a:ahLst/>
              <a:cxnLst/>
              <a:rect r="r" b="b" t="t" l="l"/>
              <a:pathLst>
                <a:path h="8382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8382000"/>
                  </a:lnTo>
                  <a:lnTo>
                    <a:pt x="0" y="8382000"/>
                  </a:lnTo>
                  <a:close/>
                </a:path>
              </a:pathLst>
            </a:custGeom>
            <a:solidFill>
              <a:srgbClr val="0D2B3E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906000" cy="842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67900" y="2133600"/>
            <a:ext cx="7429500" cy="6286500"/>
            <a:chOff x="0" y="0"/>
            <a:chExt cx="9906000" cy="838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06000" cy="8382000"/>
            </a:xfrm>
            <a:custGeom>
              <a:avLst/>
              <a:gdLst/>
              <a:ahLst/>
              <a:cxnLst/>
              <a:rect r="r" b="b" t="t" l="l"/>
              <a:pathLst>
                <a:path h="8382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8382000"/>
                  </a:lnTo>
                  <a:lnTo>
                    <a:pt x="0" y="8382000"/>
                  </a:lnTo>
                  <a:close/>
                </a:path>
              </a:pathLst>
            </a:custGeom>
            <a:solidFill>
              <a:srgbClr val="0D2B3E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906000" cy="842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28750" y="3600450"/>
            <a:ext cx="1143000" cy="57150"/>
            <a:chOff x="0" y="0"/>
            <a:chExt cx="1524000" cy="76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0" cy="76200"/>
            </a:xfrm>
            <a:custGeom>
              <a:avLst/>
              <a:gdLst/>
              <a:ahLst/>
              <a:cxnLst/>
              <a:rect r="r" b="b" t="t" l="l"/>
              <a:pathLst>
                <a:path h="762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1C5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524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0" y="3600450"/>
            <a:ext cx="1143000" cy="57150"/>
            <a:chOff x="0" y="0"/>
            <a:chExt cx="1524000" cy="76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4000" cy="76200"/>
            </a:xfrm>
            <a:custGeom>
              <a:avLst/>
              <a:gdLst/>
              <a:ahLst/>
              <a:cxnLst/>
              <a:rect r="r" b="b" t="t" l="l"/>
              <a:pathLst>
                <a:path h="762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24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28750" y="2495550"/>
            <a:ext cx="6667500" cy="53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3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ATmega32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8750" y="3076575"/>
            <a:ext cx="66675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157" b="true">
                <a:solidFill>
                  <a:srgbClr val="11C5D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REAL-TIME CONTROL PLANE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8750" y="3781425"/>
            <a:ext cx="6667500" cy="226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3"/>
              </a:lnSpc>
            </a:pPr>
            <a:r>
              <a:rPr lang="en-US" sz="232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PWM speed regulation</a:t>
            </a:r>
          </a:p>
          <a:p>
            <a:pPr algn="l">
              <a:lnSpc>
                <a:spcPts val="3603"/>
              </a:lnSpc>
            </a:pPr>
            <a:r>
              <a:rPr lang="en-US" sz="232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Timer ISR encoder counting</a:t>
            </a:r>
          </a:p>
          <a:p>
            <a:pPr algn="l">
              <a:lnSpc>
                <a:spcPts val="3603"/>
              </a:lnSpc>
            </a:pPr>
            <a:r>
              <a:rPr lang="en-US" sz="232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ADC: NTC + voltage</a:t>
            </a:r>
          </a:p>
          <a:p>
            <a:pPr algn="l">
              <a:lnSpc>
                <a:spcPts val="3603"/>
              </a:lnSpc>
            </a:pPr>
            <a:r>
              <a:rPr lang="en-US" sz="232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I²C: MPU6050 vibration</a:t>
            </a:r>
          </a:p>
          <a:p>
            <a:pPr algn="l">
              <a:lnSpc>
                <a:spcPts val="3603"/>
              </a:lnSpc>
            </a:pPr>
            <a:r>
              <a:rPr lang="en-US" sz="232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UART packet serialization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0" y="2495550"/>
            <a:ext cx="6191250" cy="53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3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ESP32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0" y="3076575"/>
            <a:ext cx="619125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157" b="true">
                <a:solidFill>
                  <a:srgbClr val="11C5D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WIRELESS APPLICATION PLANE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0" y="3781425"/>
            <a:ext cx="6191250" cy="226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3"/>
              </a:lnSpc>
            </a:pPr>
            <a:r>
              <a:rPr lang="en-US" sz="232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Receive serial packets</a:t>
            </a:r>
          </a:p>
          <a:p>
            <a:pPr algn="l">
              <a:lnSpc>
                <a:spcPts val="3603"/>
              </a:lnSpc>
            </a:pPr>
            <a:r>
              <a:rPr lang="en-US" sz="232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Validate and parse telemetry</a:t>
            </a:r>
          </a:p>
          <a:p>
            <a:pPr algn="l">
              <a:lnSpc>
                <a:spcPts val="3603"/>
              </a:lnSpc>
            </a:pPr>
            <a:r>
              <a:rPr lang="en-US" sz="232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Host Wi-Fi web server</a:t>
            </a:r>
          </a:p>
          <a:p>
            <a:pPr algn="l">
              <a:lnSpc>
                <a:spcPts val="3603"/>
              </a:lnSpc>
            </a:pPr>
            <a:r>
              <a:rPr lang="en-US" sz="232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Update live dashboard</a:t>
            </a:r>
          </a:p>
          <a:p>
            <a:pPr algn="l">
              <a:lnSpc>
                <a:spcPts val="3603"/>
              </a:lnSpc>
            </a:pPr>
            <a:r>
              <a:rPr lang="en-US" sz="232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Publish status + fault flags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0600" y="9705975"/>
            <a:ext cx="533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 b="true">
                <a:solidFill>
                  <a:srgbClr val="11C5D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EMBEDDED WIRELESS MOTOR SYSTEM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73500" y="970597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35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60145"/>
            <a:ext cx="18368220" cy="8001656"/>
          </a:xfrm>
          <a:custGeom>
            <a:avLst/>
            <a:gdLst/>
            <a:ahLst/>
            <a:cxnLst/>
            <a:rect r="r" b="b" t="t" l="l"/>
            <a:pathLst>
              <a:path h="8001656" w="18368220">
                <a:moveTo>
                  <a:pt x="0" y="0"/>
                </a:moveTo>
                <a:lnTo>
                  <a:pt x="18368220" y="0"/>
                </a:lnTo>
                <a:lnTo>
                  <a:pt x="18368220" y="8001656"/>
                </a:lnTo>
                <a:lnTo>
                  <a:pt x="0" y="8001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3342" y="2314575"/>
            <a:ext cx="3609022" cy="1056323"/>
            <a:chOff x="0" y="0"/>
            <a:chExt cx="4812030" cy="14084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9421" y="45951"/>
              <a:ext cx="4713322" cy="1316012"/>
            </a:xfrm>
            <a:custGeom>
              <a:avLst/>
              <a:gdLst/>
              <a:ahLst/>
              <a:cxnLst/>
              <a:rect r="r" b="b" t="t" l="l"/>
              <a:pathLst>
                <a:path h="1316012" w="4713322">
                  <a:moveTo>
                    <a:pt x="1390759" y="276629"/>
                  </a:moveTo>
                  <a:cubicBezTo>
                    <a:pt x="986899" y="230909"/>
                    <a:pt x="801479" y="202969"/>
                    <a:pt x="684639" y="235989"/>
                  </a:cubicBezTo>
                  <a:cubicBezTo>
                    <a:pt x="593199" y="261389"/>
                    <a:pt x="537319" y="323619"/>
                    <a:pt x="459849" y="375689"/>
                  </a:cubicBezTo>
                  <a:cubicBezTo>
                    <a:pt x="370949" y="435379"/>
                    <a:pt x="208389" y="517929"/>
                    <a:pt x="180449" y="578889"/>
                  </a:cubicBezTo>
                  <a:cubicBezTo>
                    <a:pt x="166479" y="609369"/>
                    <a:pt x="179179" y="637309"/>
                    <a:pt x="188069" y="666519"/>
                  </a:cubicBezTo>
                  <a:cubicBezTo>
                    <a:pt x="199499" y="699539"/>
                    <a:pt x="216009" y="731289"/>
                    <a:pt x="247759" y="763039"/>
                  </a:cubicBezTo>
                  <a:cubicBezTo>
                    <a:pt x="298559" y="815109"/>
                    <a:pt x="400159" y="879879"/>
                    <a:pt x="497949" y="919249"/>
                  </a:cubicBezTo>
                  <a:cubicBezTo>
                    <a:pt x="614789" y="966239"/>
                    <a:pt x="758299" y="978939"/>
                    <a:pt x="910699" y="1006879"/>
                  </a:cubicBezTo>
                  <a:cubicBezTo>
                    <a:pt x="1099929" y="1041169"/>
                    <a:pt x="1341229" y="1075459"/>
                    <a:pt x="1548239" y="1102129"/>
                  </a:cubicBezTo>
                  <a:cubicBezTo>
                    <a:pt x="1741279" y="1128799"/>
                    <a:pt x="1944479" y="1156739"/>
                    <a:pt x="2113389" y="1166899"/>
                  </a:cubicBezTo>
                  <a:cubicBezTo>
                    <a:pt x="2250549" y="1177059"/>
                    <a:pt x="2391519" y="1174519"/>
                    <a:pt x="2485499" y="1174519"/>
                  </a:cubicBezTo>
                  <a:cubicBezTo>
                    <a:pt x="2543919" y="1174519"/>
                    <a:pt x="2568049" y="1177059"/>
                    <a:pt x="2627739" y="1173249"/>
                  </a:cubicBezTo>
                  <a:cubicBezTo>
                    <a:pt x="2726799" y="1164359"/>
                    <a:pt x="2913489" y="1123719"/>
                    <a:pt x="3025249" y="1111019"/>
                  </a:cubicBezTo>
                  <a:cubicBezTo>
                    <a:pt x="3105259" y="1102129"/>
                    <a:pt x="3168759" y="1108479"/>
                    <a:pt x="3233529" y="1097049"/>
                  </a:cubicBezTo>
                  <a:cubicBezTo>
                    <a:pt x="3291949" y="1086889"/>
                    <a:pt x="3332589" y="1061489"/>
                    <a:pt x="3396089" y="1050059"/>
                  </a:cubicBezTo>
                  <a:cubicBezTo>
                    <a:pt x="3478639" y="1033549"/>
                    <a:pt x="3595479" y="1034819"/>
                    <a:pt x="3689459" y="1020849"/>
                  </a:cubicBezTo>
                  <a:cubicBezTo>
                    <a:pt x="3779629" y="1006879"/>
                    <a:pt x="3886309" y="987829"/>
                    <a:pt x="3949809" y="967509"/>
                  </a:cubicBezTo>
                  <a:cubicBezTo>
                    <a:pt x="3989179" y="954809"/>
                    <a:pt x="4013309" y="944649"/>
                    <a:pt x="4041249" y="926869"/>
                  </a:cubicBezTo>
                  <a:cubicBezTo>
                    <a:pt x="4070459" y="909089"/>
                    <a:pt x="4092049" y="877339"/>
                    <a:pt x="4121259" y="858289"/>
                  </a:cubicBezTo>
                  <a:cubicBezTo>
                    <a:pt x="4147929" y="840509"/>
                    <a:pt x="4166979" y="831619"/>
                    <a:pt x="4206349" y="813839"/>
                  </a:cubicBezTo>
                  <a:cubicBezTo>
                    <a:pt x="4286359" y="778279"/>
                    <a:pt x="4569569" y="726209"/>
                    <a:pt x="4583539" y="672869"/>
                  </a:cubicBezTo>
                  <a:cubicBezTo>
                    <a:pt x="4591159" y="642389"/>
                    <a:pt x="4539089" y="606829"/>
                    <a:pt x="4504799" y="577619"/>
                  </a:cubicBezTo>
                  <a:cubicBezTo>
                    <a:pt x="4460349" y="538249"/>
                    <a:pt x="4387959" y="510309"/>
                    <a:pt x="4333349" y="470939"/>
                  </a:cubicBezTo>
                  <a:cubicBezTo>
                    <a:pt x="4280009" y="432839"/>
                    <a:pt x="4229209" y="374419"/>
                    <a:pt x="4178409" y="345209"/>
                  </a:cubicBezTo>
                  <a:cubicBezTo>
                    <a:pt x="4139039" y="321079"/>
                    <a:pt x="4111099" y="312189"/>
                    <a:pt x="4062839" y="296949"/>
                  </a:cubicBezTo>
                  <a:cubicBezTo>
                    <a:pt x="3986639" y="274089"/>
                    <a:pt x="3878689" y="252499"/>
                    <a:pt x="3763119" y="233449"/>
                  </a:cubicBezTo>
                  <a:cubicBezTo>
                    <a:pt x="3608179" y="206779"/>
                    <a:pt x="3346559" y="176299"/>
                    <a:pt x="3210669" y="164869"/>
                  </a:cubicBezTo>
                  <a:cubicBezTo>
                    <a:pt x="3131929" y="158519"/>
                    <a:pt x="3112879" y="157249"/>
                    <a:pt x="3025249" y="154709"/>
                  </a:cubicBezTo>
                  <a:cubicBezTo>
                    <a:pt x="2804269" y="149629"/>
                    <a:pt x="2104499" y="148359"/>
                    <a:pt x="1869549" y="159789"/>
                  </a:cubicBezTo>
                  <a:cubicBezTo>
                    <a:pt x="1767949" y="164869"/>
                    <a:pt x="1732389" y="176299"/>
                    <a:pt x="1649839" y="181379"/>
                  </a:cubicBezTo>
                  <a:cubicBezTo>
                    <a:pt x="1546969" y="186459"/>
                    <a:pt x="1361549" y="196619"/>
                    <a:pt x="1298049" y="186459"/>
                  </a:cubicBezTo>
                  <a:cubicBezTo>
                    <a:pt x="1272649" y="182649"/>
                    <a:pt x="1261219" y="180109"/>
                    <a:pt x="1247249" y="169949"/>
                  </a:cubicBezTo>
                  <a:cubicBezTo>
                    <a:pt x="1234549" y="159789"/>
                    <a:pt x="1220579" y="143279"/>
                    <a:pt x="1218039" y="125499"/>
                  </a:cubicBezTo>
                  <a:cubicBezTo>
                    <a:pt x="1214229" y="103909"/>
                    <a:pt x="1221849" y="67079"/>
                    <a:pt x="1234549" y="49299"/>
                  </a:cubicBezTo>
                  <a:cubicBezTo>
                    <a:pt x="1244709" y="35329"/>
                    <a:pt x="1262489" y="25169"/>
                    <a:pt x="1280269" y="22629"/>
                  </a:cubicBezTo>
                  <a:cubicBezTo>
                    <a:pt x="1301859" y="18819"/>
                    <a:pt x="1338689" y="28979"/>
                    <a:pt x="1355199" y="42949"/>
                  </a:cubicBezTo>
                  <a:cubicBezTo>
                    <a:pt x="1369169" y="54379"/>
                    <a:pt x="1376789" y="73429"/>
                    <a:pt x="1379329" y="89939"/>
                  </a:cubicBezTo>
                  <a:cubicBezTo>
                    <a:pt x="1383139" y="106449"/>
                    <a:pt x="1380599" y="126769"/>
                    <a:pt x="1371709" y="142009"/>
                  </a:cubicBezTo>
                  <a:cubicBezTo>
                    <a:pt x="1360279" y="159789"/>
                    <a:pt x="1328529" y="181379"/>
                    <a:pt x="1306939" y="186459"/>
                  </a:cubicBezTo>
                  <a:cubicBezTo>
                    <a:pt x="1289159" y="188999"/>
                    <a:pt x="1268839" y="182649"/>
                    <a:pt x="1254869" y="175029"/>
                  </a:cubicBezTo>
                  <a:cubicBezTo>
                    <a:pt x="1240899" y="166139"/>
                    <a:pt x="1225659" y="150899"/>
                    <a:pt x="1220579" y="134389"/>
                  </a:cubicBezTo>
                  <a:cubicBezTo>
                    <a:pt x="1214229" y="114069"/>
                    <a:pt x="1218039" y="75969"/>
                    <a:pt x="1229469" y="56919"/>
                  </a:cubicBezTo>
                  <a:cubicBezTo>
                    <a:pt x="1238359" y="41679"/>
                    <a:pt x="1248519" y="32789"/>
                    <a:pt x="1271379" y="25169"/>
                  </a:cubicBezTo>
                  <a:cubicBezTo>
                    <a:pt x="1336149" y="2309"/>
                    <a:pt x="1566019" y="28979"/>
                    <a:pt x="1676509" y="23899"/>
                  </a:cubicBezTo>
                  <a:cubicBezTo>
                    <a:pt x="1752709" y="20089"/>
                    <a:pt x="1776839" y="8659"/>
                    <a:pt x="1869549" y="4849"/>
                  </a:cubicBezTo>
                  <a:cubicBezTo>
                    <a:pt x="2104499" y="-5311"/>
                    <a:pt x="2763629" y="1039"/>
                    <a:pt x="3115419" y="18819"/>
                  </a:cubicBezTo>
                  <a:cubicBezTo>
                    <a:pt x="3374499" y="32789"/>
                    <a:pt x="3613259" y="59459"/>
                    <a:pt x="3791059" y="82319"/>
                  </a:cubicBezTo>
                  <a:cubicBezTo>
                    <a:pt x="3907899" y="97559"/>
                    <a:pt x="3990449" y="102639"/>
                    <a:pt x="4078079" y="129309"/>
                  </a:cubicBezTo>
                  <a:cubicBezTo>
                    <a:pt x="4158089" y="154709"/>
                    <a:pt x="4233019" y="194079"/>
                    <a:pt x="4297789" y="235989"/>
                  </a:cubicBezTo>
                  <a:cubicBezTo>
                    <a:pt x="4354939" y="271549"/>
                    <a:pt x="4399389" y="323619"/>
                    <a:pt x="4448919" y="359179"/>
                  </a:cubicBezTo>
                  <a:cubicBezTo>
                    <a:pt x="4492099" y="389659"/>
                    <a:pt x="4537819" y="404899"/>
                    <a:pt x="4575919" y="436649"/>
                  </a:cubicBezTo>
                  <a:cubicBezTo>
                    <a:pt x="4615289" y="468399"/>
                    <a:pt x="4657199" y="514119"/>
                    <a:pt x="4680059" y="550949"/>
                  </a:cubicBezTo>
                  <a:cubicBezTo>
                    <a:pt x="4696569" y="578889"/>
                    <a:pt x="4706729" y="604289"/>
                    <a:pt x="4710539" y="633499"/>
                  </a:cubicBezTo>
                  <a:cubicBezTo>
                    <a:pt x="4715619" y="663979"/>
                    <a:pt x="4714349" y="703349"/>
                    <a:pt x="4701649" y="733829"/>
                  </a:cubicBezTo>
                  <a:cubicBezTo>
                    <a:pt x="4687679" y="764309"/>
                    <a:pt x="4666089" y="787169"/>
                    <a:pt x="4627989" y="812569"/>
                  </a:cubicBezTo>
                  <a:cubicBezTo>
                    <a:pt x="4556869" y="860829"/>
                    <a:pt x="4366369" y="900199"/>
                    <a:pt x="4269849" y="948459"/>
                  </a:cubicBezTo>
                  <a:cubicBezTo>
                    <a:pt x="4197459" y="984019"/>
                    <a:pt x="4144119" y="1033549"/>
                    <a:pt x="4090779" y="1060219"/>
                  </a:cubicBezTo>
                  <a:cubicBezTo>
                    <a:pt x="4051409" y="1079269"/>
                    <a:pt x="4039979" y="1085619"/>
                    <a:pt x="3982829" y="1099589"/>
                  </a:cubicBezTo>
                  <a:cubicBezTo>
                    <a:pt x="3785979" y="1151659"/>
                    <a:pt x="2975719" y="1291359"/>
                    <a:pt x="2626469" y="1311679"/>
                  </a:cubicBezTo>
                  <a:cubicBezTo>
                    <a:pt x="2410569" y="1324379"/>
                    <a:pt x="2310239" y="1306599"/>
                    <a:pt x="2098149" y="1291359"/>
                  </a:cubicBezTo>
                  <a:cubicBezTo>
                    <a:pt x="1775569" y="1265959"/>
                    <a:pt x="1178669" y="1199919"/>
                    <a:pt x="880219" y="1155469"/>
                  </a:cubicBezTo>
                  <a:cubicBezTo>
                    <a:pt x="704959" y="1128799"/>
                    <a:pt x="580499" y="1117369"/>
                    <a:pt x="466199" y="1077999"/>
                  </a:cubicBezTo>
                  <a:cubicBezTo>
                    <a:pt x="377299" y="1047519"/>
                    <a:pt x="298559" y="996719"/>
                    <a:pt x="241409" y="962429"/>
                  </a:cubicBezTo>
                  <a:cubicBezTo>
                    <a:pt x="205849" y="940839"/>
                    <a:pt x="184259" y="930679"/>
                    <a:pt x="156319" y="901469"/>
                  </a:cubicBezTo>
                  <a:cubicBezTo>
                    <a:pt x="114409" y="859559"/>
                    <a:pt x="57259" y="780819"/>
                    <a:pt x="31859" y="722399"/>
                  </a:cubicBezTo>
                  <a:cubicBezTo>
                    <a:pt x="11539" y="675409"/>
                    <a:pt x="-4971" y="623339"/>
                    <a:pt x="1379" y="585239"/>
                  </a:cubicBezTo>
                  <a:cubicBezTo>
                    <a:pt x="5189" y="554759"/>
                    <a:pt x="28049" y="533169"/>
                    <a:pt x="45829" y="507769"/>
                  </a:cubicBezTo>
                  <a:cubicBezTo>
                    <a:pt x="63609" y="481099"/>
                    <a:pt x="81389" y="453159"/>
                    <a:pt x="109329" y="430299"/>
                  </a:cubicBezTo>
                  <a:cubicBezTo>
                    <a:pt x="143619" y="402359"/>
                    <a:pt x="186799" y="390929"/>
                    <a:pt x="237599" y="359179"/>
                  </a:cubicBezTo>
                  <a:cubicBezTo>
                    <a:pt x="325229" y="305839"/>
                    <a:pt x="491599" y="164869"/>
                    <a:pt x="575419" y="124229"/>
                  </a:cubicBezTo>
                  <a:cubicBezTo>
                    <a:pt x="619869" y="103909"/>
                    <a:pt x="635109" y="98829"/>
                    <a:pt x="684639" y="92479"/>
                  </a:cubicBezTo>
                  <a:cubicBezTo>
                    <a:pt x="782429" y="79779"/>
                    <a:pt x="994519" y="95019"/>
                    <a:pt x="1126599" y="103909"/>
                  </a:cubicBezTo>
                  <a:cubicBezTo>
                    <a:pt x="1232009" y="110259"/>
                    <a:pt x="1357739" y="115339"/>
                    <a:pt x="1411079" y="131849"/>
                  </a:cubicBezTo>
                  <a:cubicBezTo>
                    <a:pt x="1433939" y="139469"/>
                    <a:pt x="1446639" y="143279"/>
                    <a:pt x="1456799" y="157249"/>
                  </a:cubicBezTo>
                  <a:cubicBezTo>
                    <a:pt x="1468229" y="172489"/>
                    <a:pt x="1475849" y="204239"/>
                    <a:pt x="1472039" y="223289"/>
                  </a:cubicBezTo>
                  <a:cubicBezTo>
                    <a:pt x="1468229" y="239799"/>
                    <a:pt x="1454259" y="256309"/>
                    <a:pt x="1441559" y="265199"/>
                  </a:cubicBezTo>
                  <a:cubicBezTo>
                    <a:pt x="1427589" y="274089"/>
                    <a:pt x="1390759" y="276629"/>
                    <a:pt x="1390759" y="276629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595" y="4592955"/>
            <a:ext cx="4039553" cy="286703"/>
            <a:chOff x="0" y="0"/>
            <a:chExt cx="5386070" cy="3822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8719" y="49666"/>
              <a:ext cx="5288959" cy="285667"/>
            </a:xfrm>
            <a:custGeom>
              <a:avLst/>
              <a:gdLst/>
              <a:ahLst/>
              <a:cxnLst/>
              <a:rect r="r" b="b" t="t" l="l"/>
              <a:pathLst>
                <a:path h="285667" w="5288959">
                  <a:moveTo>
                    <a:pt x="99871" y="1134"/>
                  </a:moveTo>
                  <a:cubicBezTo>
                    <a:pt x="374191" y="84954"/>
                    <a:pt x="494841" y="107814"/>
                    <a:pt x="562151" y="115434"/>
                  </a:cubicBezTo>
                  <a:cubicBezTo>
                    <a:pt x="600251" y="119244"/>
                    <a:pt x="605331" y="117974"/>
                    <a:pt x="653591" y="119244"/>
                  </a:cubicBezTo>
                  <a:cubicBezTo>
                    <a:pt x="827581" y="121784"/>
                    <a:pt x="1677211" y="129404"/>
                    <a:pt x="1851201" y="114164"/>
                  </a:cubicBezTo>
                  <a:cubicBezTo>
                    <a:pt x="1899461" y="109084"/>
                    <a:pt x="1902001" y="101464"/>
                    <a:pt x="1943911" y="97654"/>
                  </a:cubicBezTo>
                  <a:cubicBezTo>
                    <a:pt x="2027731" y="88764"/>
                    <a:pt x="2220771" y="98924"/>
                    <a:pt x="2327451" y="91304"/>
                  </a:cubicBezTo>
                  <a:cubicBezTo>
                    <a:pt x="2402381" y="87494"/>
                    <a:pt x="2421431" y="76064"/>
                    <a:pt x="2521761" y="70984"/>
                  </a:cubicBezTo>
                  <a:cubicBezTo>
                    <a:pt x="2857041" y="51934"/>
                    <a:pt x="4388661" y="37964"/>
                    <a:pt x="4717591" y="72254"/>
                  </a:cubicBezTo>
                  <a:cubicBezTo>
                    <a:pt x="4812841" y="82414"/>
                    <a:pt x="4830621" y="102734"/>
                    <a:pt x="4901741" y="110354"/>
                  </a:cubicBezTo>
                  <a:cubicBezTo>
                    <a:pt x="4995721" y="120514"/>
                    <a:pt x="5169711" y="88764"/>
                    <a:pt x="5230671" y="115434"/>
                  </a:cubicBezTo>
                  <a:cubicBezTo>
                    <a:pt x="5261151" y="128134"/>
                    <a:pt x="5277661" y="152264"/>
                    <a:pt x="5285281" y="172584"/>
                  </a:cubicBezTo>
                  <a:cubicBezTo>
                    <a:pt x="5291631" y="190364"/>
                    <a:pt x="5289091" y="211954"/>
                    <a:pt x="5282741" y="227194"/>
                  </a:cubicBezTo>
                  <a:cubicBezTo>
                    <a:pt x="5276391" y="243704"/>
                    <a:pt x="5263691" y="261484"/>
                    <a:pt x="5247181" y="269104"/>
                  </a:cubicBezTo>
                  <a:cubicBezTo>
                    <a:pt x="5228131" y="279264"/>
                    <a:pt x="5188761" y="281804"/>
                    <a:pt x="5167171" y="274184"/>
                  </a:cubicBezTo>
                  <a:cubicBezTo>
                    <a:pt x="5150661" y="267834"/>
                    <a:pt x="5135421" y="251324"/>
                    <a:pt x="5127801" y="236084"/>
                  </a:cubicBezTo>
                  <a:cubicBezTo>
                    <a:pt x="5120181" y="220844"/>
                    <a:pt x="5116371" y="199254"/>
                    <a:pt x="5118911" y="182744"/>
                  </a:cubicBezTo>
                  <a:cubicBezTo>
                    <a:pt x="5121451" y="164964"/>
                    <a:pt x="5131611" y="145914"/>
                    <a:pt x="5144311" y="134484"/>
                  </a:cubicBezTo>
                  <a:cubicBezTo>
                    <a:pt x="5157011" y="121784"/>
                    <a:pt x="5176061" y="111624"/>
                    <a:pt x="5193841" y="111624"/>
                  </a:cubicBezTo>
                  <a:cubicBezTo>
                    <a:pt x="5216701" y="110354"/>
                    <a:pt x="5253531" y="123054"/>
                    <a:pt x="5268771" y="140834"/>
                  </a:cubicBezTo>
                  <a:cubicBezTo>
                    <a:pt x="5284011" y="158614"/>
                    <a:pt x="5290361" y="196714"/>
                    <a:pt x="5285281" y="219574"/>
                  </a:cubicBezTo>
                  <a:cubicBezTo>
                    <a:pt x="5282741" y="237354"/>
                    <a:pt x="5268771" y="253864"/>
                    <a:pt x="5254801" y="264024"/>
                  </a:cubicBezTo>
                  <a:cubicBezTo>
                    <a:pt x="5240831" y="274184"/>
                    <a:pt x="5228131" y="277994"/>
                    <a:pt x="5204001" y="281804"/>
                  </a:cubicBezTo>
                  <a:cubicBezTo>
                    <a:pt x="5149391" y="290694"/>
                    <a:pt x="5004611" y="281804"/>
                    <a:pt x="4939841" y="279264"/>
                  </a:cubicBezTo>
                  <a:cubicBezTo>
                    <a:pt x="4901741" y="277994"/>
                    <a:pt x="4882691" y="277994"/>
                    <a:pt x="4849671" y="272914"/>
                  </a:cubicBezTo>
                  <a:cubicBezTo>
                    <a:pt x="4809031" y="265294"/>
                    <a:pt x="4764581" y="242434"/>
                    <a:pt x="4717591" y="236084"/>
                  </a:cubicBezTo>
                  <a:cubicBezTo>
                    <a:pt x="4664251" y="228464"/>
                    <a:pt x="4632501" y="234814"/>
                    <a:pt x="4543601" y="234814"/>
                  </a:cubicBezTo>
                  <a:cubicBezTo>
                    <a:pt x="4238801" y="233544"/>
                    <a:pt x="2841801" y="222114"/>
                    <a:pt x="2523031" y="238624"/>
                  </a:cubicBezTo>
                  <a:cubicBezTo>
                    <a:pt x="2423971" y="243704"/>
                    <a:pt x="2404921" y="253864"/>
                    <a:pt x="2328721" y="257674"/>
                  </a:cubicBezTo>
                  <a:cubicBezTo>
                    <a:pt x="2225851" y="264024"/>
                    <a:pt x="2048051" y="253864"/>
                    <a:pt x="1961691" y="260214"/>
                  </a:cubicBezTo>
                  <a:cubicBezTo>
                    <a:pt x="1913431" y="264024"/>
                    <a:pt x="1908351" y="274184"/>
                    <a:pt x="1851201" y="277994"/>
                  </a:cubicBezTo>
                  <a:cubicBezTo>
                    <a:pt x="1665781" y="291964"/>
                    <a:pt x="832661" y="277994"/>
                    <a:pt x="649781" y="271644"/>
                  </a:cubicBezTo>
                  <a:cubicBezTo>
                    <a:pt x="595171" y="269104"/>
                    <a:pt x="587551" y="270374"/>
                    <a:pt x="544371" y="264024"/>
                  </a:cubicBezTo>
                  <a:cubicBezTo>
                    <a:pt x="470711" y="255134"/>
                    <a:pt x="341171" y="228464"/>
                    <a:pt x="251001" y="205604"/>
                  </a:cubicBezTo>
                  <a:cubicBezTo>
                    <a:pt x="173531" y="186554"/>
                    <a:pt x="73201" y="164964"/>
                    <a:pt x="35101" y="138294"/>
                  </a:cubicBezTo>
                  <a:cubicBezTo>
                    <a:pt x="16051" y="125594"/>
                    <a:pt x="7161" y="111624"/>
                    <a:pt x="2081" y="95114"/>
                  </a:cubicBezTo>
                  <a:cubicBezTo>
                    <a:pt x="-1729" y="78604"/>
                    <a:pt x="-459" y="57014"/>
                    <a:pt x="7161" y="41774"/>
                  </a:cubicBezTo>
                  <a:cubicBezTo>
                    <a:pt x="13511" y="26534"/>
                    <a:pt x="30021" y="10024"/>
                    <a:pt x="45261" y="3674"/>
                  </a:cubicBezTo>
                  <a:cubicBezTo>
                    <a:pt x="61771" y="-2676"/>
                    <a:pt x="99871" y="1134"/>
                    <a:pt x="99871" y="113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1638300"/>
            <a:ext cx="16306800" cy="28575"/>
            <a:chOff x="0" y="0"/>
            <a:chExt cx="217424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42400" cy="38100"/>
            </a:xfrm>
            <a:custGeom>
              <a:avLst/>
              <a:gdLst/>
              <a:ahLst/>
              <a:cxnLst/>
              <a:rect r="r" b="b" t="t" l="l"/>
              <a:pathLst>
                <a:path h="381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7424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2500" y="2190750"/>
            <a:ext cx="8724900" cy="6191250"/>
          </a:xfrm>
          <a:custGeom>
            <a:avLst/>
            <a:gdLst/>
            <a:ahLst/>
            <a:cxnLst/>
            <a:rect r="r" b="b" t="t" l="l"/>
            <a:pathLst>
              <a:path h="6191250" w="8724900">
                <a:moveTo>
                  <a:pt x="0" y="0"/>
                </a:moveTo>
                <a:lnTo>
                  <a:pt x="8724900" y="0"/>
                </a:lnTo>
                <a:lnTo>
                  <a:pt x="8724900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t="0" r="-6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572500" y="2019364"/>
            <a:ext cx="8724900" cy="6849183"/>
          </a:xfrm>
          <a:custGeom>
            <a:avLst/>
            <a:gdLst/>
            <a:ahLst/>
            <a:cxnLst/>
            <a:rect r="r" b="b" t="t" l="l"/>
            <a:pathLst>
              <a:path h="6849183" w="8724900">
                <a:moveTo>
                  <a:pt x="0" y="0"/>
                </a:moveTo>
                <a:lnTo>
                  <a:pt x="8724900" y="0"/>
                </a:lnTo>
                <a:lnTo>
                  <a:pt x="8724900" y="6849184"/>
                </a:lnTo>
                <a:lnTo>
                  <a:pt x="0" y="6849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681" r="0" b="-568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0600" y="533400"/>
            <a:ext cx="1524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12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 / VALIDATION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" y="962025"/>
            <a:ext cx="14287500" cy="54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4050" b="true">
                <a:solidFill>
                  <a:srgbClr val="1027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Breadboard to Enclosure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0600" y="2400300"/>
            <a:ext cx="6343650" cy="767239"/>
            <a:chOff x="0" y="0"/>
            <a:chExt cx="8458200" cy="102298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47625"/>
              <a:ext cx="1016000" cy="554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3000" b="true">
                  <a:solidFill>
                    <a:srgbClr val="11C5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346200" y="38100"/>
              <a:ext cx="7112000" cy="40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62"/>
                </a:lnSpc>
              </a:pPr>
              <a:r>
                <a:rPr lang="en-US" sz="2175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BREADBOARD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346200" y="644525"/>
              <a:ext cx="71120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Circuit + signal validation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0600" y="3867150"/>
            <a:ext cx="6343650" cy="767239"/>
            <a:chOff x="0" y="0"/>
            <a:chExt cx="8458200" cy="102298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47625"/>
              <a:ext cx="1016000" cy="554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3000" b="true">
                  <a:solidFill>
                    <a:srgbClr val="11C5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346200" y="38100"/>
              <a:ext cx="7112000" cy="40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62"/>
                </a:lnSpc>
              </a:pPr>
              <a:r>
                <a:rPr lang="en-US" sz="2175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PROGRAM &amp; DEBUG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346200" y="644525"/>
              <a:ext cx="71120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Programmer + serial console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0600" y="5334000"/>
            <a:ext cx="6343650" cy="767239"/>
            <a:chOff x="0" y="0"/>
            <a:chExt cx="8458200" cy="1022985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47625"/>
              <a:ext cx="1016000" cy="554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3000" b="true">
                  <a:solidFill>
                    <a:srgbClr val="11C5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346200" y="38100"/>
              <a:ext cx="7112000" cy="40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62"/>
                </a:lnSpc>
              </a:pPr>
              <a:r>
                <a:rPr lang="en-US" sz="2175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INSTRUMENT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346200" y="644525"/>
              <a:ext cx="71120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PWM • encoder • UART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90600" y="6800850"/>
            <a:ext cx="6343650" cy="767239"/>
            <a:chOff x="0" y="0"/>
            <a:chExt cx="8458200" cy="1022985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47625"/>
              <a:ext cx="1016000" cy="554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3000" b="true">
                  <a:solidFill>
                    <a:srgbClr val="11C5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346200" y="38100"/>
              <a:ext cx="7112000" cy="40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62"/>
                </a:lnSpc>
              </a:pPr>
              <a:r>
                <a:rPr lang="en-US" sz="2175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FINAL BUILD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346200" y="644525"/>
              <a:ext cx="71120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Perfboard + enclosure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90600" y="9705975"/>
            <a:ext cx="533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EMBEDDED WIRELESS MOTOR SYSTEM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73500" y="970597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35">
                <a:solidFill>
                  <a:srgbClr val="64798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533400"/>
            <a:ext cx="1524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97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 / OPTIMIZATION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962025"/>
            <a:ext cx="14287500" cy="54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4050" b="true">
                <a:solidFill>
                  <a:srgbClr val="1027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Less Hardware. More Capability.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1638300"/>
            <a:ext cx="16306800" cy="28575"/>
            <a:chOff x="0" y="0"/>
            <a:chExt cx="21742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42400" cy="38100"/>
            </a:xfrm>
            <a:custGeom>
              <a:avLst/>
              <a:gdLst/>
              <a:ahLst/>
              <a:cxnLst/>
              <a:rect r="r" b="b" t="t" l="l"/>
              <a:pathLst>
                <a:path h="381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7424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28750" y="2305050"/>
            <a:ext cx="6191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79" b="true">
                <a:solidFill>
                  <a:srgbClr val="64798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BEFORE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96500" y="2305050"/>
            <a:ext cx="6191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79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AFTER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3048000"/>
            <a:ext cx="6858000" cy="1066800"/>
            <a:chOff x="0" y="0"/>
            <a:chExt cx="9144000" cy="14224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144000" cy="1422400"/>
              <a:chOff x="0" y="0"/>
              <a:chExt cx="9144000" cy="1422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144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E8EE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91440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81000" y="403225"/>
              <a:ext cx="8255000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RS-485 + MAX485 + termination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286750" y="3581400"/>
            <a:ext cx="1333500" cy="0"/>
          </a:xfrm>
          <a:prstGeom prst="line">
            <a:avLst/>
          </a:prstGeom>
          <a:ln cap="rnd" w="47625">
            <a:solidFill>
              <a:srgbClr val="16A6A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9810750" y="3048000"/>
            <a:ext cx="7239000" cy="1066800"/>
            <a:chOff x="0" y="0"/>
            <a:chExt cx="9652000" cy="14224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9652000" cy="1422400"/>
              <a:chOff x="0" y="0"/>
              <a:chExt cx="9652000" cy="1422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652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96520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81000" y="460375"/>
              <a:ext cx="8255000" cy="381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6"/>
                </a:lnSpc>
              </a:pPr>
              <a:r>
                <a:rPr lang="en-US" sz="2025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Direct UART + safe level conversion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43000" y="4476750"/>
            <a:ext cx="6858000" cy="1066800"/>
            <a:chOff x="0" y="0"/>
            <a:chExt cx="9144000" cy="14224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9144000" cy="1422400"/>
              <a:chOff x="0" y="0"/>
              <a:chExt cx="9144000" cy="1422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144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91440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81000" y="403225"/>
              <a:ext cx="8255000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Local 16×2 LCD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8286750" y="5010150"/>
            <a:ext cx="1333500" cy="0"/>
          </a:xfrm>
          <a:prstGeom prst="line">
            <a:avLst/>
          </a:prstGeom>
          <a:ln cap="rnd" w="47625">
            <a:solidFill>
              <a:srgbClr val="16A6A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9810750" y="4476750"/>
            <a:ext cx="7239000" cy="1066800"/>
            <a:chOff x="0" y="0"/>
            <a:chExt cx="9652000" cy="14224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9652000" cy="1422400"/>
              <a:chOff x="0" y="0"/>
              <a:chExt cx="9652000" cy="1422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652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DFF4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96520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81000" y="460375"/>
              <a:ext cx="8255000" cy="381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6"/>
                </a:lnSpc>
              </a:pPr>
              <a:r>
                <a:rPr lang="en-US" sz="2025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Wireless laptop dashboard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43000" y="5905500"/>
            <a:ext cx="6858000" cy="1066800"/>
            <a:chOff x="0" y="0"/>
            <a:chExt cx="9144000" cy="14224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9144000" cy="1422400"/>
              <a:chOff x="0" y="0"/>
              <a:chExt cx="9144000" cy="1422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144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E8EE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91440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381000" y="403225"/>
              <a:ext cx="8255000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Motor without precise feedback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8286750" y="6438900"/>
            <a:ext cx="1333500" cy="0"/>
          </a:xfrm>
          <a:prstGeom prst="line">
            <a:avLst/>
          </a:prstGeom>
          <a:ln cap="rnd" w="47625">
            <a:solidFill>
              <a:srgbClr val="16A6A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7" id="37"/>
          <p:cNvGrpSpPr/>
          <p:nvPr/>
        </p:nvGrpSpPr>
        <p:grpSpPr>
          <a:xfrm rot="0">
            <a:off x="9810750" y="5905500"/>
            <a:ext cx="7239000" cy="1066800"/>
            <a:chOff x="0" y="0"/>
            <a:chExt cx="9652000" cy="142240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9652000" cy="1422400"/>
              <a:chOff x="0" y="0"/>
              <a:chExt cx="9652000" cy="14224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9652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96520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381000" y="460375"/>
              <a:ext cx="8255000" cy="381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6"/>
                </a:lnSpc>
              </a:pPr>
              <a:r>
                <a:rPr lang="en-US" sz="2025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210 RPM gear motor + encoder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43000" y="7334250"/>
            <a:ext cx="6858000" cy="1066800"/>
            <a:chOff x="0" y="0"/>
            <a:chExt cx="9144000" cy="14224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9144000" cy="1422400"/>
              <a:chOff x="0" y="0"/>
              <a:chExt cx="9144000" cy="14224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144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91440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381000" y="403225"/>
              <a:ext cx="8255000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Redundant diodes + MOSFETs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>
            <a:off x="8286750" y="7867650"/>
            <a:ext cx="1333500" cy="0"/>
          </a:xfrm>
          <a:prstGeom prst="line">
            <a:avLst/>
          </a:prstGeom>
          <a:ln cap="rnd" w="47625">
            <a:solidFill>
              <a:srgbClr val="16A6A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8" id="48"/>
          <p:cNvGrpSpPr/>
          <p:nvPr/>
        </p:nvGrpSpPr>
        <p:grpSpPr>
          <a:xfrm rot="0">
            <a:off x="9810750" y="7334250"/>
            <a:ext cx="7239000" cy="1066800"/>
            <a:chOff x="0" y="0"/>
            <a:chExt cx="9652000" cy="1422400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9652000" cy="1422400"/>
              <a:chOff x="0" y="0"/>
              <a:chExt cx="9652000" cy="14224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9652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DFF4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9652000" cy="1460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381000" y="460375"/>
              <a:ext cx="8255000" cy="381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6"/>
                </a:lnSpc>
              </a:pPr>
              <a:r>
                <a:rPr lang="en-US" sz="2025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Streamlined validated passives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90600" y="9705975"/>
            <a:ext cx="533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EMBEDDED WIRELESS MOTOR SYSTEM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573500" y="970597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35">
                <a:solidFill>
                  <a:srgbClr val="64798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523875"/>
            <a:ext cx="1524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50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 / PEOPLE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962025"/>
            <a:ext cx="14287500" cy="54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4050" b="true">
                <a:solidFill>
                  <a:srgbClr val="1027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Team &amp; Supervision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1638300"/>
            <a:ext cx="16306800" cy="28575"/>
            <a:chOff x="0" y="0"/>
            <a:chExt cx="21742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42400" cy="38100"/>
            </a:xfrm>
            <a:custGeom>
              <a:avLst/>
              <a:gdLst/>
              <a:ahLst/>
              <a:cxnLst/>
              <a:rect r="r" b="b" t="t" l="l"/>
              <a:pathLst>
                <a:path h="381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A6A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7424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90600" y="2381250"/>
            <a:ext cx="3629025" cy="3733800"/>
            <a:chOff x="0" y="0"/>
            <a:chExt cx="4838700" cy="49784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838700" cy="4978400"/>
              <a:chOff x="0" y="0"/>
              <a:chExt cx="4838700" cy="49784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838700" cy="4978400"/>
              </a:xfrm>
              <a:custGeom>
                <a:avLst/>
                <a:gdLst/>
                <a:ahLst/>
                <a:cxnLst/>
                <a:rect r="r" b="b" t="t" l="l"/>
                <a:pathLst>
                  <a:path h="4978400" w="4838700">
                    <a:moveTo>
                      <a:pt x="0" y="0"/>
                    </a:moveTo>
                    <a:lnTo>
                      <a:pt x="4838700" y="0"/>
                    </a:lnTo>
                    <a:lnTo>
                      <a:pt x="4838700" y="4978400"/>
                    </a:lnTo>
                    <a:lnTo>
                      <a:pt x="0" y="4978400"/>
                    </a:lnTo>
                    <a:close/>
                  </a:path>
                </a:pathLst>
              </a:custGeom>
              <a:solidFill>
                <a:srgbClr val="DFF4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838700" cy="501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406400" y="457200"/>
              <a:ext cx="1117600" cy="1117600"/>
              <a:chOff x="0" y="0"/>
              <a:chExt cx="1117600" cy="1117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176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1117600">
                    <a:moveTo>
                      <a:pt x="558800" y="0"/>
                    </a:moveTo>
                    <a:cubicBezTo>
                      <a:pt x="867417" y="0"/>
                      <a:pt x="1117600" y="250183"/>
                      <a:pt x="1117600" y="558800"/>
                    </a:cubicBezTo>
                    <a:cubicBezTo>
                      <a:pt x="1117600" y="867417"/>
                      <a:pt x="867417" y="1117600"/>
                      <a:pt x="558800" y="1117600"/>
                    </a:cubicBezTo>
                    <a:cubicBezTo>
                      <a:pt x="250183" y="1117600"/>
                      <a:pt x="0" y="867417"/>
                      <a:pt x="0" y="558800"/>
                    </a:cubicBezTo>
                    <a:cubicBezTo>
                      <a:pt x="0" y="250183"/>
                      <a:pt x="250183" y="0"/>
                      <a:pt x="558800" y="0"/>
                    </a:cubicBezTo>
                    <a:close/>
                  </a:path>
                </a:pathLst>
              </a:custGeom>
              <a:solidFill>
                <a:srgbClr val="07182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1176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true">
                    <a:solidFill>
                      <a:srgbClr val="11C5D9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AA</a:t>
                </a: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06400" y="2060575"/>
              <a:ext cx="4247438" cy="44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8"/>
                </a:lnSpc>
              </a:pPr>
              <a:r>
                <a:rPr lang="en-US" sz="2325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Adham Abdel Kader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06400" y="3197225"/>
              <a:ext cx="40259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Embedded Firmware Lead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000625" y="2381250"/>
            <a:ext cx="3629025" cy="3429000"/>
            <a:chOff x="0" y="0"/>
            <a:chExt cx="4838700" cy="4572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4838700" cy="4572000"/>
              <a:chOff x="0" y="0"/>
              <a:chExt cx="4838700" cy="4572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838700" cy="4572000"/>
              </a:xfrm>
              <a:custGeom>
                <a:avLst/>
                <a:gdLst/>
                <a:ahLst/>
                <a:cxnLst/>
                <a:rect r="r" b="b" t="t" l="l"/>
                <a:pathLst>
                  <a:path h="4572000" w="4838700">
                    <a:moveTo>
                      <a:pt x="0" y="0"/>
                    </a:moveTo>
                    <a:lnTo>
                      <a:pt x="4838700" y="0"/>
                    </a:lnTo>
                    <a:lnTo>
                      <a:pt x="48387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4838700" cy="461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406400" y="457200"/>
              <a:ext cx="1117600" cy="1117600"/>
              <a:chOff x="0" y="0"/>
              <a:chExt cx="1117600" cy="11176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176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1117600">
                    <a:moveTo>
                      <a:pt x="558800" y="0"/>
                    </a:moveTo>
                    <a:cubicBezTo>
                      <a:pt x="867417" y="0"/>
                      <a:pt x="1117600" y="250183"/>
                      <a:pt x="1117600" y="558800"/>
                    </a:cubicBezTo>
                    <a:cubicBezTo>
                      <a:pt x="1117600" y="867417"/>
                      <a:pt x="867417" y="1117600"/>
                      <a:pt x="558800" y="1117600"/>
                    </a:cubicBezTo>
                    <a:cubicBezTo>
                      <a:pt x="250183" y="1117600"/>
                      <a:pt x="0" y="867417"/>
                      <a:pt x="0" y="558800"/>
                    </a:cubicBezTo>
                    <a:cubicBezTo>
                      <a:pt x="0" y="250183"/>
                      <a:pt x="250183" y="0"/>
                      <a:pt x="558800" y="0"/>
                    </a:cubicBezTo>
                    <a:close/>
                  </a:path>
                </a:pathLst>
              </a:custGeom>
              <a:solidFill>
                <a:srgbClr val="07182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1176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true">
                    <a:solidFill>
                      <a:srgbClr val="11C5D9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MA</a:t>
                </a: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06400" y="2060575"/>
              <a:ext cx="4025900" cy="44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8"/>
                </a:lnSpc>
              </a:pPr>
              <a:r>
                <a:rPr lang="en-US" sz="2325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Mohamed Ali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06400" y="2790825"/>
              <a:ext cx="40259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Hardware &amp; PCB Design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10650" y="2381250"/>
            <a:ext cx="3629025" cy="3429000"/>
            <a:chOff x="0" y="0"/>
            <a:chExt cx="4838700" cy="4572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838700" cy="4572000"/>
              <a:chOff x="0" y="0"/>
              <a:chExt cx="4838700" cy="4572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838700" cy="4572000"/>
              </a:xfrm>
              <a:custGeom>
                <a:avLst/>
                <a:gdLst/>
                <a:ahLst/>
                <a:cxnLst/>
                <a:rect r="r" b="b" t="t" l="l"/>
                <a:pathLst>
                  <a:path h="4572000" w="4838700">
                    <a:moveTo>
                      <a:pt x="0" y="0"/>
                    </a:moveTo>
                    <a:lnTo>
                      <a:pt x="4838700" y="0"/>
                    </a:lnTo>
                    <a:lnTo>
                      <a:pt x="48387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DFF4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4838700" cy="461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406400" y="457200"/>
              <a:ext cx="1117600" cy="1117600"/>
              <a:chOff x="0" y="0"/>
              <a:chExt cx="1117600" cy="11176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1176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1117600">
                    <a:moveTo>
                      <a:pt x="558800" y="0"/>
                    </a:moveTo>
                    <a:cubicBezTo>
                      <a:pt x="867417" y="0"/>
                      <a:pt x="1117600" y="250183"/>
                      <a:pt x="1117600" y="558800"/>
                    </a:cubicBezTo>
                    <a:cubicBezTo>
                      <a:pt x="1117600" y="867417"/>
                      <a:pt x="867417" y="1117600"/>
                      <a:pt x="558800" y="1117600"/>
                    </a:cubicBezTo>
                    <a:cubicBezTo>
                      <a:pt x="250183" y="1117600"/>
                      <a:pt x="0" y="867417"/>
                      <a:pt x="0" y="558800"/>
                    </a:cubicBezTo>
                    <a:cubicBezTo>
                      <a:pt x="0" y="250183"/>
                      <a:pt x="250183" y="0"/>
                      <a:pt x="558800" y="0"/>
                    </a:cubicBezTo>
                    <a:close/>
                  </a:path>
                </a:pathLst>
              </a:custGeom>
              <a:solidFill>
                <a:srgbClr val="07182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1176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true">
                    <a:solidFill>
                      <a:srgbClr val="11C5D9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MW</a:t>
                </a: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406400" y="2060575"/>
              <a:ext cx="4025900" cy="440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8"/>
                </a:lnSpc>
              </a:pPr>
              <a:r>
                <a:rPr lang="en-US" sz="2325" b="true">
                  <a:solidFill>
                    <a:srgbClr val="1027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Mahmoud Wael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06400" y="2790825"/>
              <a:ext cx="40259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27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Wireless &amp; Dashboard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90600" y="6477000"/>
            <a:ext cx="16306800" cy="2095500"/>
            <a:chOff x="0" y="0"/>
            <a:chExt cx="21742400" cy="27940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21742400" cy="2794000"/>
              <a:chOff x="0" y="0"/>
              <a:chExt cx="21742400" cy="27940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17424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21742400">
                    <a:moveTo>
                      <a:pt x="0" y="0"/>
                    </a:moveTo>
                    <a:lnTo>
                      <a:pt x="21742400" y="0"/>
                    </a:lnTo>
                    <a:lnTo>
                      <a:pt x="217424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7182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217424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584200" y="571500"/>
              <a:ext cx="381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65" b="true">
                  <a:solidFill>
                    <a:srgbClr val="11C5D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SUPERVISED BY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584200" y="1231900"/>
              <a:ext cx="86360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Eng. Basel Dawood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0871200" y="1231900"/>
              <a:ext cx="8890000" cy="475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2"/>
                </a:lnSpc>
              </a:pPr>
              <a:r>
                <a:rPr lang="en-US" sz="25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Eng. Ablelrahman Ali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90600" y="9705975"/>
            <a:ext cx="533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 b="true">
                <a:solidFill>
                  <a:srgbClr val="16A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EMBEDDED WIRELESS MOTOR SYSTEM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73500" y="970597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35">
                <a:solidFill>
                  <a:srgbClr val="64798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827">
                <a:alpha val="5490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90600" y="5505450"/>
            <a:ext cx="7810500" cy="38100"/>
            <a:chOff x="0" y="0"/>
            <a:chExt cx="10414000" cy="50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14000" cy="50800"/>
            </a:xfrm>
            <a:custGeom>
              <a:avLst/>
              <a:gdLst/>
              <a:ahLst/>
              <a:cxnLst/>
              <a:rect r="r" b="b" t="t" l="l"/>
              <a:pathLst>
                <a:path h="508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1C5D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41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90600" y="8382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65" b="true">
                <a:solidFill>
                  <a:srgbClr val="11C5D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CONCLUSION / FUTURE SCOPE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" y="1714500"/>
            <a:ext cx="10001250" cy="164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sz="6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 locally.</a:t>
            </a:r>
          </a:p>
          <a:p>
            <a:pPr algn="l">
              <a:lnSpc>
                <a:spcPts val="6396"/>
              </a:lnSpc>
            </a:pPr>
            <a:r>
              <a:rPr lang="en-US" sz="6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Monitor anywhere.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" y="3876675"/>
            <a:ext cx="85725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Validated real-time motor control, condition monitoring and autonomous safety in a cost-effective dual-controller platform.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0600" y="5762625"/>
            <a:ext cx="104775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NEXT  /  MQTT cloud integration  •  AI predictive maintenance from vibration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0600" y="7448550"/>
            <a:ext cx="10001250" cy="94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6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  <a:p>
            <a:pPr algn="l">
              <a:lnSpc>
                <a:spcPts val="3744"/>
              </a:lnSpc>
            </a:pPr>
            <a:r>
              <a:rPr lang="en-US" sz="36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Open for Questions &amp; Discussion.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0600" y="9705975"/>
            <a:ext cx="533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 b="true">
                <a:solidFill>
                  <a:srgbClr val="11C5D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EMBEDDED WIRELESS MOTOR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73500" y="970597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35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DAHVwzvzHQM</dc:identifier>
  <dcterms:modified xsi:type="dcterms:W3CDTF">2011-08-01T06:04:30Z</dcterms:modified>
  <cp:revision>1</cp:revision>
  <dc:title>Motor Monitoring System</dc:title>
</cp:coreProperties>
</file>